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4"/>
  </p:sldMasterIdLst>
  <p:notesMasterIdLst>
    <p:notesMasterId r:id="rId17"/>
  </p:notesMasterIdLst>
  <p:handoutMasterIdLst>
    <p:handoutMasterId r:id="rId18"/>
  </p:handoutMasterIdLst>
  <p:sldIdLst>
    <p:sldId id="1519" r:id="rId5"/>
    <p:sldId id="1540" r:id="rId6"/>
    <p:sldId id="1532" r:id="rId7"/>
    <p:sldId id="260" r:id="rId8"/>
    <p:sldId id="261" r:id="rId9"/>
    <p:sldId id="262" r:id="rId10"/>
    <p:sldId id="1538" r:id="rId11"/>
    <p:sldId id="263" r:id="rId12"/>
    <p:sldId id="1537" r:id="rId13"/>
    <p:sldId id="265" r:id="rId14"/>
    <p:sldId id="1542" r:id="rId15"/>
    <p:sldId id="152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AA383-4B97-92CB-B908-3EAF3589B59E}" v="6" dt="2025-04-02T15:51:59.125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0"/>
  </p:normalViewPr>
  <p:slideViewPr>
    <p:cSldViewPr snapToGrid="0">
      <p:cViewPr varScale="1">
        <p:scale>
          <a:sx n="105" d="100"/>
          <a:sy n="105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doughnutChart>
        <c:varyColors val="1"/>
        <c:dLbls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  <c:holeSize val="0"/>
      </c:doughnutChart>
      <c:spPr>
        <a:noFill/>
        <a:ln w="25400">
          <a:noFill/>
        </a:ln>
      </c:spPr>
    </c:plotArea>
    <c:legend>
      <c:legendPos val="b"/>
      <c:overlay val="0"/>
      <c:txPr>
        <a:bodyPr anchorCtr="1"/>
        <a:lstStyle/>
        <a:p>
          <a:pPr>
            <a:defRPr>
              <a:latin typeface="Bitstream Charter"/>
              <a:ea typeface="Bitstream Charter"/>
              <a:cs typeface="Bitstream Charter"/>
            </a:defRPr>
          </a:pPr>
          <a:endParaRPr lang="en-US"/>
        </a:p>
      </c:txPr>
    </c:legend>
    <c:plotVisOnly val="1"/>
    <c:dispBlanksAs val="zero"/>
    <c:showDLblsOverMax val="1"/>
  </c:chart>
  <c:userShapes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>
              <a:srgbClr val="1976A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Bitstream Charter"/>
                    <a:ea typeface="Bitstream Charter"/>
                    <a:cs typeface="Bitstream Charte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Tesla</c:v>
              </c:pt>
              <c:pt idx="1">
                <c:v>Chevrolet</c:v>
              </c:pt>
              <c:pt idx="2">
                <c:v>Ford</c:v>
              </c:pt>
              <c:pt idx="3">
                <c:v>Nissan</c:v>
              </c:pt>
              <c:pt idx="4">
                <c:v>Kia</c:v>
              </c:pt>
              <c:pt idx="5">
                <c:v>Toyota</c:v>
              </c:pt>
              <c:pt idx="6">
                <c:v>BMW</c:v>
              </c:pt>
              <c:pt idx="7">
                <c:v>Hyundai</c:v>
              </c:pt>
            </c:strLit>
          </c:cat>
          <c:val>
            <c:numLit>
              <c:formatCode>General</c:formatCode>
              <c:ptCount val="8"/>
              <c:pt idx="0">
                <c:v>122981</c:v>
              </c:pt>
              <c:pt idx="1">
                <c:v>20236</c:v>
              </c:pt>
              <c:pt idx="2">
                <c:v>16118</c:v>
              </c:pt>
              <c:pt idx="3">
                <c:v>16053</c:v>
              </c:pt>
              <c:pt idx="4">
                <c:v>14776</c:v>
              </c:pt>
              <c:pt idx="5">
                <c:v>13998</c:v>
              </c:pt>
              <c:pt idx="6">
                <c:v>12356</c:v>
              </c:pt>
              <c:pt idx="7">
                <c:v>12351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AAC-47E1-8E5E-6C8E094D6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>
              <a:srgbClr val="61C58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Bitstream Charter"/>
                    <a:ea typeface="Bitstream Charter"/>
                    <a:cs typeface="Bitstream Charte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Tesla Model Y</c:v>
              </c:pt>
              <c:pt idx="1">
                <c:v>Tesla Model 3</c:v>
              </c:pt>
              <c:pt idx="2">
                <c:v>Nissan Leaf</c:v>
              </c:pt>
              <c:pt idx="3">
                <c:v>Tesla Model S</c:v>
              </c:pt>
              <c:pt idx="4">
                <c:v>Chevrolet Bolt EV</c:v>
              </c:pt>
              <c:pt idx="5">
                <c:v>Hyundai Ioniq 5</c:v>
              </c:pt>
              <c:pt idx="6">
                <c:v>Tesla Model X</c:v>
              </c:pt>
              <c:pt idx="7">
                <c:v>Ford Mustang Mach-E</c:v>
              </c:pt>
            </c:strLit>
          </c:cat>
          <c:val>
            <c:numLit>
              <c:formatCode>General</c:formatCode>
              <c:ptCount val="8"/>
              <c:pt idx="0">
                <c:v>66545</c:v>
              </c:pt>
              <c:pt idx="1">
                <c:v>39391</c:v>
              </c:pt>
              <c:pt idx="2">
                <c:v>13453</c:v>
              </c:pt>
              <c:pt idx="3">
                <c:v>7873</c:v>
              </c:pt>
              <c:pt idx="4">
                <c:v>7642</c:v>
              </c:pt>
              <c:pt idx="5">
                <c:v>7531</c:v>
              </c:pt>
              <c:pt idx="6">
                <c:v>7177</c:v>
              </c:pt>
              <c:pt idx="7">
                <c:v>6865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612-4C50-ADC1-9BFB3D3698C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WA records</c:v>
          </c:tx>
          <c:spPr>
            <a:solidFill>
              <a:srgbClr val="45B8C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Bitstream Charter"/>
                    <a:ea typeface="Bitstream Charter"/>
                    <a:cs typeface="Bitstream Charte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King</c:v>
              </c:pt>
              <c:pt idx="1">
                <c:v>Snohomish</c:v>
              </c:pt>
              <c:pt idx="2">
                <c:v>Pierce</c:v>
              </c:pt>
              <c:pt idx="3">
                <c:v>Clark</c:v>
              </c:pt>
              <c:pt idx="4">
                <c:v>Thurston</c:v>
              </c:pt>
              <c:pt idx="5">
                <c:v>Kitsap</c:v>
              </c:pt>
              <c:pt idx="6">
                <c:v>Spokane</c:v>
              </c:pt>
              <c:pt idx="7">
                <c:v>Whatcom</c:v>
              </c:pt>
            </c:strLit>
          </c:cat>
          <c:val>
            <c:numLit>
              <c:formatCode>General</c:formatCode>
              <c:ptCount val="8"/>
              <c:pt idx="0">
                <c:v>144257</c:v>
              </c:pt>
              <c:pt idx="1">
                <c:v>37818</c:v>
              </c:pt>
              <c:pt idx="2">
                <c:v>25042</c:v>
              </c:pt>
              <c:pt idx="3">
                <c:v>18782</c:v>
              </c:pt>
              <c:pt idx="4">
                <c:v>10985</c:v>
              </c:pt>
              <c:pt idx="5">
                <c:v>10351</c:v>
              </c:pt>
              <c:pt idx="6">
                <c:v>8741</c:v>
              </c:pt>
              <c:pt idx="7">
                <c:v>7560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058-4CAA-9660-7A2B5265B8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AA481761-D9EB-4927-29D8-6289836CAAD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6924675" cy="4867275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 DOL Electric Vehicle Population Data, extracted 23 September 2026. BEV = 241,724; PHEV = 57,981; total = 299,705. BEV share = 80.65%, rounded to 80.7%.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 DOL dataset f6w7-q2d2, extracted 23 September 2026. Counts: Tesla 122,981; Chevrolet 20,236; Ford 16,118; Nissan 16,053; Kia 14,776; Toyota 13,998; BMW 12,356; Hyundai 12,351.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 DOL dataset f6w7-q2d2, extracted 23 September 2026. Top make-model counts shown. Model Y plus Model 3 = 105,936, or 35.35% of 299,705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 DOL dataset f6w7-q2d2, extracted 23 September 2026. WA-only county counts shown. Top five share = 236,884 / 298,916 = 79.25%. King share = 144,257 / 298,916 = 48.26%.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 DOL dataset f6w7-q2d2, extracted 23 September 2026. Electric range: 103,444 positive; 196,235 zero; 26 missing. Positive-range medians: BEV 215 miles based on 45,492 records; PHEV 32 miles based on 57,952 records. CAFV categories shown exactly as published.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AA04CA-6D91-004C-FA88-4221A31A77F6}"/>
              </a:ext>
            </a:extLst>
          </p:cNvPr>
          <p:cNvGrpSpPr/>
          <p:nvPr/>
        </p:nvGrpSpPr>
        <p:grpSpPr>
          <a:xfrm>
            <a:off x="1524" y="477705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317687-1EB3-6E94-A975-D3BE6710509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A8497D-927F-1F00-CAA6-850ED9ACF36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77054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97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080842-8B21-79F6-5E17-600AD47CB464}"/>
              </a:ext>
            </a:extLst>
          </p:cNvPr>
          <p:cNvCxnSpPr>
            <a:cxnSpLocks/>
          </p:cNvCxnSpPr>
          <p:nvPr userDrawn="1"/>
        </p:nvCxnSpPr>
        <p:spPr>
          <a:xfrm>
            <a:off x="1524" y="1521917"/>
            <a:ext cx="1218895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95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71930" y="5417288"/>
            <a:ext cx="1645920" cy="57607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fld id="{D975B2AB-B1B0-9D4B-B2A8-A5151114B019}" type="datetime1">
              <a:rPr lang="en-US" smtClean="0"/>
              <a:pPr/>
              <a:t>9/28/2026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41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38B1156-C178-1504-109B-CF8ADAE9B475}"/>
              </a:ext>
            </a:extLst>
          </p:cNvPr>
          <p:cNvGrpSpPr/>
          <p:nvPr/>
        </p:nvGrpSpPr>
        <p:grpSpPr>
          <a:xfrm rot="5400000">
            <a:off x="3278777" y="3310128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63BD2-DAB2-AF5C-4D67-BA2B1F64FEC1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B5A769-74D3-8C05-3657-37504461DBD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8139-7A1B-13F8-B5B6-155C0375F82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8896" y="557784"/>
            <a:ext cx="1371600" cy="365760"/>
          </a:xfrm>
        </p:spPr>
        <p:txBody>
          <a:bodyPr/>
          <a:lstStyle/>
          <a:p>
            <a:fld id="{94701BC7-7095-6A42-BCA0-E1E7A2BF1A8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89D19-6D0E-1D65-68E9-F2021472CE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31336" y="6117336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50C9A-6B16-7549-61C9-F153E20572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168896" y="6117336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59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06240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CD18-F1A3-CBD0-2E24-E3B85CEA969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309360"/>
            <a:ext cx="1371600" cy="365760"/>
          </a:xfrm>
        </p:spPr>
        <p:txBody>
          <a:bodyPr/>
          <a:lstStyle/>
          <a:p>
            <a:fld id="{8F528A8F-6E66-6041-838C-24B654F56D99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FE02-1698-14D9-6D95-D7B05BD021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35208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23E1E-7DF2-A895-FD0A-B6B12868AF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084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3FC25D-52EB-4469-84DC-4AC70D4D7DD2}"/>
              </a:ext>
            </a:extLst>
          </p:cNvPr>
          <p:cNvGrpSpPr/>
          <p:nvPr/>
        </p:nvGrpSpPr>
        <p:grpSpPr>
          <a:xfrm rot="5400000">
            <a:off x="2038314" y="3314697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0701D7-BBAE-AF7D-1911-C1EF77C20BB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5DCD47-D7D6-468D-61EF-A698DA3D829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058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B9B18D-498E-8BF2-85F9-CECC6B1E2F84}"/>
              </a:ext>
            </a:extLst>
          </p:cNvPr>
          <p:cNvGrpSpPr/>
          <p:nvPr userDrawn="1"/>
        </p:nvGrpSpPr>
        <p:grpSpPr>
          <a:xfrm>
            <a:off x="1524" y="621942"/>
            <a:ext cx="12189714" cy="5624442"/>
            <a:chOff x="1524" y="679790"/>
            <a:chExt cx="12189714" cy="562444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96FE84-0A13-A29F-A4E8-29274237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9D638E-5BD7-A449-2EFE-F99BFA446FB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BA7D1E-DA33-A2FA-A81A-D6EB828F4482}"/>
                </a:ext>
              </a:extLst>
            </p:cNvPr>
            <p:cNvGrpSpPr/>
            <p:nvPr/>
          </p:nvGrpSpPr>
          <p:grpSpPr>
            <a:xfrm rot="16200000">
              <a:off x="3281050" y="3377216"/>
              <a:ext cx="5623560" cy="230471"/>
              <a:chOff x="1517" y="-1102564"/>
              <a:chExt cx="12190483" cy="23047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9023D91-CD23-FCDB-CD80-1285134E9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1" y="-1102564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101D74D-C07B-E264-91B1-BFC25D1CC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7" y="-872093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517" y="1559052"/>
            <a:ext cx="4480560" cy="3739896"/>
          </a:xfrm>
        </p:spPr>
        <p:txBody>
          <a:bodyPr anchor="ctr" anchorCtr="0">
            <a:normAutofit/>
          </a:bodyPr>
          <a:lstStyle>
            <a:lvl1pPr algn="ctr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208065" y="627418"/>
            <a:ext cx="5983935" cy="5596128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" r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15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AB4C54-8CF8-4055-8919-69F08126C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930" y="5417288"/>
            <a:ext cx="1645920" cy="576072"/>
          </a:xfrm>
          <a:custGeom>
            <a:avLst/>
            <a:gdLst>
              <a:gd name="connsiteX0" fmla="*/ 288036 w 1645920"/>
              <a:gd name="connsiteY0" fmla="*/ 0 h 576072"/>
              <a:gd name="connsiteX1" fmla="*/ 1357884 w 1645920"/>
              <a:gd name="connsiteY1" fmla="*/ 0 h 576072"/>
              <a:gd name="connsiteX2" fmla="*/ 1645920 w 1645920"/>
              <a:gd name="connsiteY2" fmla="*/ 288036 h 576072"/>
              <a:gd name="connsiteX3" fmla="*/ 1357884 w 1645920"/>
              <a:gd name="connsiteY3" fmla="*/ 576072 h 576072"/>
              <a:gd name="connsiteX4" fmla="*/ 288036 w 1645920"/>
              <a:gd name="connsiteY4" fmla="*/ 576072 h 576072"/>
              <a:gd name="connsiteX5" fmla="*/ 0 w 1645920"/>
              <a:gd name="connsiteY5" fmla="*/ 288036 h 576072"/>
              <a:gd name="connsiteX6" fmla="*/ 288036 w 1645920"/>
              <a:gd name="connsiteY6" fmla="*/ 0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5920" h="576072">
                <a:moveTo>
                  <a:pt x="288036" y="0"/>
                </a:moveTo>
                <a:lnTo>
                  <a:pt x="1357884" y="0"/>
                </a:lnTo>
                <a:cubicBezTo>
                  <a:pt x="1516962" y="0"/>
                  <a:pt x="1645920" y="128958"/>
                  <a:pt x="1645920" y="288036"/>
                </a:cubicBezTo>
                <a:cubicBezTo>
                  <a:pt x="1645920" y="447114"/>
                  <a:pt x="1516962" y="576072"/>
                  <a:pt x="1357884" y="576072"/>
                </a:cubicBezTo>
                <a:lnTo>
                  <a:pt x="288036" y="576072"/>
                </a:lnTo>
                <a:cubicBezTo>
                  <a:pt x="128958" y="576072"/>
                  <a:pt x="0" y="447114"/>
                  <a:pt x="0" y="288036"/>
                </a:cubicBezTo>
                <a:cubicBezTo>
                  <a:pt x="0" y="128958"/>
                  <a:pt x="128958" y="0"/>
                  <a:pt x="288036" y="0"/>
                </a:cubicBezTo>
                <a:close/>
              </a:path>
            </a:pathLst>
          </a:custGeom>
          <a:ln w="15875">
            <a:solidFill>
              <a:schemeClr val="tx1"/>
            </a:solidFill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dirty="0"/>
              <a:t>M/D/</a:t>
            </a:r>
            <a:r>
              <a:rPr lang="en-US" dirty="0" err="1"/>
              <a:t>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9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A6910-53B1-887E-1BB5-00A1F4FB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F0465-4D18-9B18-DD2D-EDB2FA85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FAC0C-3553-79B8-C54F-1755C5A9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1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1610379"/>
            <a:ext cx="7876287" cy="359262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537327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B934-A7B2-524D-BFEC-F77CDECEE6EE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0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4637-5A31-8644-BF75-15F39C94EBA3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93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97013" y="633794"/>
            <a:ext cx="4394987" cy="559041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3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7E0C5C-1BE1-9C59-13F8-71572AFB5DAC}"/>
              </a:ext>
            </a:extLst>
          </p:cNvPr>
          <p:cNvGrpSpPr/>
          <p:nvPr userDrawn="1"/>
        </p:nvGrpSpPr>
        <p:grpSpPr>
          <a:xfrm>
            <a:off x="1524" y="621942"/>
            <a:ext cx="12189714" cy="5624439"/>
            <a:chOff x="1524" y="679790"/>
            <a:chExt cx="12189714" cy="562443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4852208" y="3375142"/>
              <a:ext cx="5623560" cy="234613"/>
              <a:chOff x="1524" y="466526"/>
              <a:chExt cx="12190480" cy="23461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" y="466526"/>
                <a:ext cx="12188955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01139"/>
                <a:ext cx="12188956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29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4081369"/>
            <a:ext cx="10733872" cy="2059770"/>
          </a:xfrm>
        </p:spPr>
        <p:txBody>
          <a:bodyPr anchor="b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8840BA8-F5D8-0705-FEEC-A013F601E9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631686"/>
            <a:ext cx="12192000" cy="288358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5293-EE24-9B9A-05FE-F518D184151B}"/>
              </a:ext>
            </a:extLst>
          </p:cNvPr>
          <p:cNvGrpSpPr/>
          <p:nvPr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2AC33AC-4C52-DCDB-1568-A656B92B6DB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5E6E8AA-9E5D-2CD0-1E00-7946B275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054126-09BE-4243-7F4C-B417B064C9C9}"/>
              </a:ext>
            </a:extLst>
          </p:cNvPr>
          <p:cNvGrpSpPr/>
          <p:nvPr/>
        </p:nvGrpSpPr>
        <p:grpSpPr>
          <a:xfrm>
            <a:off x="762" y="3526715"/>
            <a:ext cx="12190476" cy="230457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04626D-F989-3307-F577-891C0FB3E42B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95BBC0-5863-88F8-8F0F-3F00C5E7F81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739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0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2B1D98-8540-A2E0-960F-3096393D712E}"/>
              </a:ext>
            </a:extLst>
          </p:cNvPr>
          <p:cNvGrpSpPr/>
          <p:nvPr/>
        </p:nvGrpSpPr>
        <p:grpSpPr>
          <a:xfrm>
            <a:off x="1524" y="621942"/>
            <a:ext cx="12189714" cy="5624435"/>
            <a:chOff x="1524" y="621942"/>
            <a:chExt cx="12189714" cy="562443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19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23605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1706663" y="3319368"/>
              <a:ext cx="5623560" cy="230457"/>
              <a:chOff x="1524" y="486404"/>
              <a:chExt cx="12190476" cy="23045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" y="486404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16861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6958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221" y="779721"/>
            <a:ext cx="8467558" cy="155448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E3334D-C461-2466-9E8A-5CBF2D354A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20070-9FE3-480D-6EDC-BEAFD99B5B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D7422-CEB6-84CA-0EAE-743F83C71B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2221" y="2449473"/>
            <a:ext cx="8467558" cy="3689909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228600" indent="0" algn="ctr">
              <a:buFont typeface="Arial" panose="020B0604020202020204" pitchFamily="34" charset="0"/>
              <a:buNone/>
              <a:defRPr sz="1800"/>
            </a:lvl2pPr>
            <a:lvl3pPr marL="457200" indent="0" algn="ctr">
              <a:buFont typeface="Arial" panose="020B0604020202020204" pitchFamily="34" charset="0"/>
              <a:buNone/>
              <a:defRPr sz="1800"/>
            </a:lvl3pPr>
            <a:lvl4pPr marL="685800" indent="0" algn="ctr">
              <a:buFont typeface="Arial" panose="020B0604020202020204" pitchFamily="34" charset="0"/>
              <a:buNone/>
              <a:defRPr sz="1800"/>
            </a:lvl4pPr>
            <a:lvl5pPr marL="914400" indent="0" algn="ctr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26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 anchor="ctr" anchorCtr="0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529008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6595" y="525786"/>
            <a:ext cx="1828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41510" y="5976691"/>
            <a:ext cx="1371600" cy="365760"/>
          </a:xfrm>
        </p:spPr>
        <p:txBody>
          <a:bodyPr/>
          <a:lstStyle/>
          <a:p>
            <a:fld id="{6DCA0909-C965-B345-8649-8376ABAE122F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0F6233-054F-BC0F-2687-4169A06F76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4097" y="-1"/>
            <a:ext cx="8127902" cy="6857991"/>
          </a:xfrm>
          <a:custGeom>
            <a:avLst/>
            <a:gdLst>
              <a:gd name="connsiteX0" fmla="*/ 0 w 8127902"/>
              <a:gd name="connsiteY0" fmla="*/ 5461143 h 6857991"/>
              <a:gd name="connsiteX1" fmla="*/ 8127902 w 8127902"/>
              <a:gd name="connsiteY1" fmla="*/ 5461143 h 6857991"/>
              <a:gd name="connsiteX2" fmla="*/ 8127902 w 8127902"/>
              <a:gd name="connsiteY2" fmla="*/ 6857991 h 6857991"/>
              <a:gd name="connsiteX3" fmla="*/ 0 w 8127902"/>
              <a:gd name="connsiteY3" fmla="*/ 6857991 h 6857991"/>
              <a:gd name="connsiteX4" fmla="*/ 0 w 8127902"/>
              <a:gd name="connsiteY4" fmla="*/ 0 h 6857991"/>
              <a:gd name="connsiteX5" fmla="*/ 8127902 w 8127902"/>
              <a:gd name="connsiteY5" fmla="*/ 0 h 6857991"/>
              <a:gd name="connsiteX6" fmla="*/ 8127902 w 8127902"/>
              <a:gd name="connsiteY6" fmla="*/ 1379293 h 6857991"/>
              <a:gd name="connsiteX7" fmla="*/ 0 w 8127902"/>
              <a:gd name="connsiteY7" fmla="*/ 1379293 h 685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1">
                <a:moveTo>
                  <a:pt x="0" y="5461143"/>
                </a:moveTo>
                <a:lnTo>
                  <a:pt x="8127902" y="5461143"/>
                </a:lnTo>
                <a:lnTo>
                  <a:pt x="8127902" y="6857991"/>
                </a:lnTo>
                <a:lnTo>
                  <a:pt x="0" y="6857991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79293"/>
                </a:lnTo>
                <a:lnTo>
                  <a:pt x="0" y="1379293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" r="37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0442" y="2158528"/>
            <a:ext cx="6785736" cy="2514600"/>
          </a:xfrm>
        </p:spPr>
        <p:txBody>
          <a:bodyPr anchor="ctr" anchorCtr="0">
            <a:normAutofit/>
          </a:bodyPr>
          <a:lstStyle>
            <a:lvl1pPr marL="0" indent="0">
              <a:buFont typeface="+mj-lt"/>
              <a:buNone/>
              <a:defRPr sz="1800" i="1"/>
            </a:lvl1pPr>
            <a:lvl2pPr marL="228600" indent="0">
              <a:buFont typeface="+mj-lt"/>
              <a:buNone/>
              <a:defRPr sz="1800" i="1"/>
            </a:lvl2pPr>
            <a:lvl3pPr marL="457200" indent="0">
              <a:buFont typeface="+mj-lt"/>
              <a:buNone/>
              <a:defRPr sz="1800" i="1"/>
            </a:lvl3pPr>
            <a:lvl4pPr marL="685800" indent="0">
              <a:buFont typeface="+mj-lt"/>
              <a:buNone/>
              <a:defRPr sz="1800" i="1"/>
            </a:lvl4pPr>
            <a:lvl5pPr marL="914400" indent="0">
              <a:buFont typeface="+mj-lt"/>
              <a:buNone/>
              <a:defRPr sz="18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B01DA6-EC20-B4FD-9896-88A903B2EF0E}"/>
              </a:ext>
            </a:extLst>
          </p:cNvPr>
          <p:cNvGrpSpPr/>
          <p:nvPr/>
        </p:nvGrpSpPr>
        <p:grpSpPr>
          <a:xfrm>
            <a:off x="1524" y="5230685"/>
            <a:ext cx="12190476" cy="230457"/>
            <a:chOff x="1524" y="486404"/>
            <a:chExt cx="12190476" cy="23045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2BF8E0-963D-EE28-8E0F-64F235D1FE6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A08CA2-17E1-CFE8-9645-762AB31D722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F51B7BD-9CD6-5727-EAB2-3C568C99E7B1}"/>
              </a:ext>
            </a:extLst>
          </p:cNvPr>
          <p:cNvGrpSpPr/>
          <p:nvPr userDrawn="1"/>
        </p:nvGrpSpPr>
        <p:grpSpPr>
          <a:xfrm>
            <a:off x="1524" y="1379292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BAA12E-4487-D093-61E6-6A6F9527EB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D70512-C761-310A-0904-A3EDB21E53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CF23D4-7D4B-4FD2-FD38-61B2A04E2F20}"/>
              </a:ext>
            </a:extLst>
          </p:cNvPr>
          <p:cNvCxnSpPr/>
          <p:nvPr userDrawn="1"/>
        </p:nvCxnSpPr>
        <p:spPr>
          <a:xfrm>
            <a:off x="4054620" y="-1"/>
            <a:ext cx="0" cy="685800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49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B212-19A7-1389-5D84-1493713BA48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858000" y="18708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F619C-303A-EC07-5744-BCF0A158F3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6015C-1958-8819-6CFA-C8CA9EF5FF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8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4FA13F-5EC9-D941-0DA6-5E8CB0B77475}"/>
              </a:ext>
            </a:extLst>
          </p:cNvPr>
          <p:cNvGrpSpPr/>
          <p:nvPr userDrawn="1"/>
        </p:nvGrpSpPr>
        <p:grpSpPr>
          <a:xfrm rot="5400000">
            <a:off x="2803644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3204B7-F0CC-C537-75EC-860CCB0806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ECDF8D-5807-D383-DD66-792A704EA2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05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73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9AFCA72-41CF-D05C-F8FB-8CAA627330D0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B29C259-F97A-8F67-400F-BC54EB1560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0556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E4DE8A-5131-66D0-8011-8BFA0C904B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3602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C2E701-AF8D-7A3D-CC09-891E0AFB72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1398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674796-E246-B6E4-B793-0B35356F89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2" y="63703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8D2328-4643-C915-66E4-67530C6C8BA2}"/>
                </a:ext>
              </a:extLst>
            </p:cNvPr>
            <p:cNvCxnSpPr/>
            <p:nvPr userDrawn="1"/>
          </p:nvCxnSpPr>
          <p:spPr>
            <a:xfrm>
              <a:off x="4050792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0" y="478810"/>
            <a:ext cx="6680364" cy="1525849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1D407DA-00BD-2265-F634-419E75DA4E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4AD165-8B01-3E43-98A9-F808A95BF71A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F15EF94-8F8C-0EF5-8EF2-5C4EA19564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FA39EB6-444E-CBC6-AC9C-78183ED45C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54879" y="3263808"/>
            <a:ext cx="6680363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07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BAA6-3631-B64B-B6F3-DEE7E050D639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3217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6B764-AD22-0F4B-BAE3-44995569C23A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450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537853"/>
            <a:ext cx="4145582" cy="46388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D8DF-7269-644C-8396-989AFC27656C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572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80160"/>
            <a:ext cx="4142232" cy="494066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4EE2-E508-0343-ABC3-FD891EA966EC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1280160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5005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3494314" cy="571963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09360"/>
            <a:ext cx="1371600" cy="365760"/>
          </a:xfrm>
        </p:spPr>
        <p:txBody>
          <a:bodyPr/>
          <a:lstStyle/>
          <a:p>
            <a:fld id="{F81006CB-6D12-D648-BDFF-45946122B114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396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548640"/>
            <a:ext cx="6093225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40" y="0"/>
            <a:ext cx="479388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0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12BE5-0AFE-AA4B-DE38-618FA150F3A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86400" y="6309360"/>
            <a:ext cx="1371600" cy="365760"/>
          </a:xfrm>
        </p:spPr>
        <p:txBody>
          <a:bodyPr/>
          <a:lstStyle/>
          <a:p>
            <a:fld id="{FB67AB3A-5619-724F-B943-9D34281EA5B9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B002-680C-F23C-355A-AA9E00F69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BC7F1-E4AA-ACB1-F898-0F4CE95C34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F8443E-8FB4-6D1A-1287-E54F5204B44D}"/>
              </a:ext>
            </a:extLst>
          </p:cNvPr>
          <p:cNvGrpSpPr/>
          <p:nvPr userDrawn="1"/>
        </p:nvGrpSpPr>
        <p:grpSpPr>
          <a:xfrm rot="5400000">
            <a:off x="1490425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E5F11D-F220-9C5E-929C-BCA879502F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6AC546-8709-3993-FCDB-1B156D2088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2729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A554-0191-84FD-FF13-1D08A9040FE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9005" y="6309360"/>
            <a:ext cx="1371600" cy="365760"/>
          </a:xfrm>
        </p:spPr>
        <p:txBody>
          <a:bodyPr/>
          <a:lstStyle/>
          <a:p>
            <a:fld id="{2CB12418-D22D-2F49-B8DF-8F0D06316D0F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51982-58B0-FDD3-D68E-F1F52109DF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63424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87B63-4ABF-71A4-052E-E4A6E0B0D8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319065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B5488C-5471-388E-2299-E36A52160AF1}"/>
              </a:ext>
            </a:extLst>
          </p:cNvPr>
          <p:cNvGrpSpPr/>
          <p:nvPr/>
        </p:nvGrpSpPr>
        <p:grpSpPr>
          <a:xfrm rot="5400000">
            <a:off x="3842029" y="3314697"/>
            <a:ext cx="6858000" cy="228600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6BE69B9-7459-DD8B-2663-BDBBDF27D6E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2791D3-546A-F264-3A28-FA4F47254C7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2864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C6A67-6118-FB57-C805-42FCFB3E2EC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63440" y="6309360"/>
            <a:ext cx="1371600" cy="365760"/>
          </a:xfrm>
        </p:spPr>
        <p:txBody>
          <a:bodyPr/>
          <a:lstStyle/>
          <a:p>
            <a:fld id="{F7B9797D-0A11-3F4C-A8F9-4C3CFB1C3467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8562C-62EF-4582-865E-F683CC0BA5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0CD9-C1EA-17F0-7578-5F8A1A5909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AD7A6E-1B9B-D9DE-BD67-39C783071F20}"/>
              </a:ext>
            </a:extLst>
          </p:cNvPr>
          <p:cNvGrpSpPr/>
          <p:nvPr userDrawn="1"/>
        </p:nvGrpSpPr>
        <p:grpSpPr>
          <a:xfrm rot="5400000">
            <a:off x="726870" y="3314697"/>
            <a:ext cx="6858000" cy="228600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DD3F17-F32A-F401-6587-63C903B926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2FA86B-2AC9-7E00-D084-24EC59AAAE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9065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67771A41-C848-E64D-A3E7-2C2268336902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294EF9-68D3-BBE1-CF71-EB49B1946043}"/>
              </a:ext>
            </a:extLst>
          </p:cNvPr>
          <p:cNvGrpSpPr/>
          <p:nvPr/>
        </p:nvGrpSpPr>
        <p:grpSpPr>
          <a:xfrm rot="5400000">
            <a:off x="4523955" y="3330195"/>
            <a:ext cx="6858000" cy="228600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5BB65A-DA11-C51A-8125-2AB82548925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C64F4CB-517C-D2E2-C7FE-130E00DFA93E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20579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D9A4B-419F-EFB0-1176-951278E45B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23760" y="6309360"/>
            <a:ext cx="1371600" cy="365760"/>
          </a:xfrm>
        </p:spPr>
        <p:txBody>
          <a:bodyPr/>
          <a:lstStyle/>
          <a:p>
            <a:fld id="{63444354-EB0C-0749-879A-AC72746606D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372A1-F80C-EE8E-3ED3-DEA07464D9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0B9D2-7EB0-49D5-FB69-802CC1E602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6EDA9F-9F0C-F2B8-2DA9-6B5E53DF71A1}"/>
              </a:ext>
            </a:extLst>
          </p:cNvPr>
          <p:cNvGrpSpPr/>
          <p:nvPr userDrawn="1"/>
        </p:nvGrpSpPr>
        <p:grpSpPr>
          <a:xfrm rot="5400000">
            <a:off x="331508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4DF475-F587-D0F5-2E5F-1F7374565F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672F99E-296C-67C4-EA39-A3890FF72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50249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D23E0-4409-7037-FE86-2F4FED37F5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ADFB106D-E2A4-BA42-83CB-236864574A5E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FB02F-C7E2-E0E7-60F6-676CD156D1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8879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800A2-76CC-F9B8-3D85-3BEF8792A5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4443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1D9632-278F-11B0-688D-20E8D15BB079}"/>
              </a:ext>
            </a:extLst>
          </p:cNvPr>
          <p:cNvGrpSpPr/>
          <p:nvPr userDrawn="1"/>
        </p:nvGrpSpPr>
        <p:grpSpPr>
          <a:xfrm rot="5400000">
            <a:off x="2183715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BE1D6A8-C24F-52BA-1401-BD84AE6A3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546028-8E84-0B13-7CEA-433419C216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7452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1A105-C44D-52EF-FE59-79B2559A51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04888" y="6309360"/>
            <a:ext cx="1371600" cy="365760"/>
          </a:xfrm>
        </p:spPr>
        <p:txBody>
          <a:bodyPr/>
          <a:lstStyle/>
          <a:p>
            <a:fld id="{A0A3A3CB-42B5-F943-9B44-CE40D69043BF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5DDCD-2302-7DB0-065A-B9C0D60616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4486D-3CD5-EFE8-605A-E494F417F5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60FD1D-1C9C-1D7D-034D-752DEA37DE2F}"/>
              </a:ext>
            </a:extLst>
          </p:cNvPr>
          <p:cNvGrpSpPr/>
          <p:nvPr userDrawn="1"/>
        </p:nvGrpSpPr>
        <p:grpSpPr>
          <a:xfrm rot="5400000">
            <a:off x="3191101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255FD7-7B06-617C-F2B1-84296408F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74B771-A659-B0FC-BE3E-CCA7C7DAA8C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4305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44B0A-5375-2C8E-1855-C39FDCFE2AF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F9F10B6-86E2-C342-8351-96AAFAF25FE3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E8B0B-9B3C-2EBF-8B1F-0383E15F45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9980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74BF6-552A-A16E-D27D-6F4180803E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75544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931DFC-97BE-BA1D-DF4B-117BE21CCE3A}"/>
              </a:ext>
            </a:extLst>
          </p:cNvPr>
          <p:cNvGrpSpPr/>
          <p:nvPr userDrawn="1"/>
        </p:nvGrpSpPr>
        <p:grpSpPr>
          <a:xfrm rot="5400000">
            <a:off x="2354194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2D29D2-0F65-815E-B69D-9AE195C8A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EB07D8-B6B0-63D6-1B82-5440BC5E86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8430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14E36-7594-545C-C743-651A7E90674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1312" y="6309360"/>
            <a:ext cx="1371600" cy="365760"/>
          </a:xfrm>
        </p:spPr>
        <p:txBody>
          <a:bodyPr/>
          <a:lstStyle/>
          <a:p>
            <a:fld id="{0D631071-5303-6A4D-961A-95A03CA52AB9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C485E-E2B8-D77F-2FAD-EA82B01F1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825487" y="6309360"/>
            <a:ext cx="141716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B1F47-9876-D98C-50D8-3FBF163899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38395A-A6A8-BCB1-3525-B2DB5574DB25}"/>
              </a:ext>
            </a:extLst>
          </p:cNvPr>
          <p:cNvGrpSpPr/>
          <p:nvPr userDrawn="1"/>
        </p:nvGrpSpPr>
        <p:grpSpPr>
          <a:xfrm rot="5400000">
            <a:off x="4282691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CBCFB5-79E3-D32D-7553-DF61FB31DF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CC810B-FEDA-EE81-FE8A-157790BB19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743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D2EFA-F338-854A-39A5-0DE75A240C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5BC5750-3890-C849-A097-7836C504B378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6A974-1D24-E76E-BB89-FCF2BB9C4CF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263173" y="6309360"/>
            <a:ext cx="1371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416FE-7E34-58E4-9D56-114F98FB0B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8500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6C6367-A7F3-E06C-7C1A-0BC0654C5286}"/>
              </a:ext>
            </a:extLst>
          </p:cNvPr>
          <p:cNvGrpSpPr/>
          <p:nvPr userDrawn="1"/>
        </p:nvGrpSpPr>
        <p:grpSpPr>
          <a:xfrm rot="5400000">
            <a:off x="119181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F36C848-6667-C955-7DE1-69ED168EEE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346036-FCB7-EFB8-C4D8-2B8EC443A7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5198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1DDC5-8FD0-5B7D-E616-216E1AB06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F966B-C615-BAC6-2082-446BFF922C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DBEEF-1C91-68D1-CE48-418ABCEDC9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45054" y="6309360"/>
            <a:ext cx="1371600" cy="365760"/>
          </a:xfrm>
        </p:spPr>
        <p:txBody>
          <a:bodyPr/>
          <a:lstStyle/>
          <a:p>
            <a:fld id="{0573F55D-F102-EB4C-8110-ACB83A574214}" type="datetime1">
              <a:rPr lang="en-US" smtClean="0"/>
              <a:t>9/28/2026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11C5D-D71A-18E5-3526-29DDA766D6F8}"/>
              </a:ext>
            </a:extLst>
          </p:cNvPr>
          <p:cNvGrpSpPr/>
          <p:nvPr userDrawn="1"/>
        </p:nvGrpSpPr>
        <p:grpSpPr>
          <a:xfrm rot="5400000">
            <a:off x="4477460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F40670-01CC-8D65-0326-EC21C4B773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C0E780-14F3-5C5E-5448-CFFC9EBBE1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43319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42535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B61FA28-EB8E-6842-A6BE-E9D79E274AF5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6FB652-32F7-CC0E-68CE-5F38D866A595}"/>
              </a:ext>
            </a:extLst>
          </p:cNvPr>
          <p:cNvGrpSpPr/>
          <p:nvPr/>
        </p:nvGrpSpPr>
        <p:grpSpPr>
          <a:xfrm>
            <a:off x="1524" y="4425359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053F082-AD98-C5E7-4EC8-638F1C20A182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365CD2-3B68-0FCB-4E75-1DA83FCCC0E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42287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568731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309360"/>
            <a:ext cx="1371600" cy="365760"/>
          </a:xfrm>
        </p:spPr>
        <p:txBody>
          <a:bodyPr/>
          <a:lstStyle/>
          <a:p>
            <a:fld id="{B598246D-3750-4C49-B8B5-B7C47928A50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4904FC-9ED3-CB9C-8E66-CCD770A7CB70}"/>
              </a:ext>
            </a:extLst>
          </p:cNvPr>
          <p:cNvGrpSpPr/>
          <p:nvPr/>
        </p:nvGrpSpPr>
        <p:grpSpPr>
          <a:xfrm>
            <a:off x="1524" y="3568737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DF3AD1-1E09-BFF1-7171-710B6980D7C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189BF8-6380-EFD8-0428-D30EF04BF109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165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73152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1AA82-C169-BE38-29A6-B58CE0828F1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CE3C4F-0F80-AC4E-AA58-72E64271713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8DE68-B20B-7DB9-181E-61F633A433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59C8-BEA2-2884-535E-DB5EFDF600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73152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293002"/>
            <a:ext cx="12192000" cy="356499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97EF48-BD94-5DFA-36B7-B8F67892EA8E}"/>
              </a:ext>
            </a:extLst>
          </p:cNvPr>
          <p:cNvGrpSpPr/>
          <p:nvPr userDrawn="1"/>
        </p:nvGrpSpPr>
        <p:grpSpPr>
          <a:xfrm>
            <a:off x="1524" y="3062546"/>
            <a:ext cx="12190476" cy="230457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41B9D92-A574-8565-DDB3-8F0EB9A1E6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F9A2F5-E50A-C6D3-77FB-2D71755BFE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260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11150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C4AD5-8F1C-044F-83F2-1AB471B11726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419862"/>
            <a:ext cx="6262288" cy="3834634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211666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6234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309360"/>
            <a:ext cx="1371600" cy="365760"/>
          </a:xfrm>
        </p:spPr>
        <p:txBody>
          <a:bodyPr/>
          <a:lstStyle/>
          <a:p>
            <a:fld id="{E61C2A3D-65D3-8945-A127-64FDB177BE9F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134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0" y="6309360"/>
            <a:ext cx="1371600" cy="365760"/>
          </a:xfrm>
        </p:spPr>
        <p:txBody>
          <a:bodyPr/>
          <a:lstStyle/>
          <a:p>
            <a:fld id="{E816DA63-B925-2449-B364-722E4572D80A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995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4377969-578A-3044-99E3-8EA6F116B67F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AD1842-8379-12E0-533A-0EA98BFD181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8605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876C6E-D8A0-48C5-6CEA-CCB62001195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1650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D3B94D4-25D3-9D42-853F-7BA1819A9995}"/>
                </a:ext>
              </a:extLst>
            </p:cNvPr>
            <p:cNvCxnSpPr>
              <a:cxnSpLocks/>
            </p:cNvCxnSpPr>
            <p:nvPr/>
          </p:nvCxnSpPr>
          <p:spPr>
            <a:xfrm>
              <a:off x="8121159" y="5225545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9F06DC-4DAD-401F-D80C-28C8AF513C85}"/>
                </a:ext>
              </a:extLst>
            </p:cNvPr>
            <p:cNvCxnSpPr>
              <a:cxnSpLocks/>
            </p:cNvCxnSpPr>
            <p:nvPr/>
          </p:nvCxnSpPr>
          <p:spPr>
            <a:xfrm>
              <a:off x="8120650" y="5456002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CBF433-8664-25AC-9007-E9988DE6BC38}"/>
                </a:ext>
              </a:extLst>
            </p:cNvPr>
            <p:cNvCxnSpPr/>
            <p:nvPr/>
          </p:nvCxnSpPr>
          <p:spPr>
            <a:xfrm>
              <a:off x="8126357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44" y="1828800"/>
            <a:ext cx="6292533" cy="152704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9478-EC4E-22FA-F9CC-D733F0B937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F52567-8570-6C44-9BA2-689163175DC8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10537-2782-FB58-9F28-3FD8CF8E9F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085-F9C6-78E4-7772-43209526D6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81" y="3474719"/>
            <a:ext cx="6383974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132064" y="1615439"/>
            <a:ext cx="4059936" cy="360698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435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A65721-D9B5-3BE2-6460-9C2878922040}"/>
              </a:ext>
            </a:extLst>
          </p:cNvPr>
          <p:cNvGrpSpPr/>
          <p:nvPr userDrawn="1"/>
        </p:nvGrpSpPr>
        <p:grpSpPr>
          <a:xfrm>
            <a:off x="1524" y="0"/>
            <a:ext cx="12190476" cy="4493520"/>
            <a:chOff x="1524" y="0"/>
            <a:chExt cx="12190476" cy="44935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E0B240-979E-FA1C-833D-9030AD31D1E9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2630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F21FA7B-6DD0-5D50-12F1-C349D0BBCF8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44935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F28047-4BC7-8178-E223-C9CBB4659519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92" y="0"/>
              <a:ext cx="0" cy="42568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591564"/>
            <a:ext cx="3158356" cy="3068913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6CDC3-30E5-67DB-5587-FFD6AF5A95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1A79-864C-0860-E407-A07E073A2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F9F37-1A63-6296-7E1D-5BDA41CB10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50391" y="591563"/>
            <a:ext cx="6742010" cy="3068905"/>
          </a:xfrm>
        </p:spPr>
        <p:txBody>
          <a:bodyPr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04544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90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49" y="5628925"/>
            <a:ext cx="10826495" cy="91041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208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408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23E50FD4-EFCB-974E-B2DD-5523215BAC65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3917" y="1280791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5C73EA-68F7-286D-7C59-C6A4A90C3636}"/>
              </a:ext>
            </a:extLst>
          </p:cNvPr>
          <p:cNvGrpSpPr/>
          <p:nvPr userDrawn="1"/>
        </p:nvGrpSpPr>
        <p:grpSpPr>
          <a:xfrm>
            <a:off x="1524" y="1362456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42D11FF-C277-62FB-F980-145F901A2E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BA5D67-2BA6-BB7C-9CF6-047471396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13481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30368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7BBDC7-963A-E3DB-D9D5-DD9AAD4FEE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C7C81-7664-8BC0-13CA-172BEB1B3B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20763-4AEF-109E-06F3-5B039E246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170431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EDBF81-A305-1402-C591-AC058BD1AE14}"/>
              </a:ext>
            </a:extLst>
          </p:cNvPr>
          <p:cNvGrpSpPr/>
          <p:nvPr userDrawn="1"/>
        </p:nvGrpSpPr>
        <p:grpSpPr>
          <a:xfrm>
            <a:off x="1524" y="1366605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FE7AA46-A342-1022-0FD8-CCBDA033E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FD7B6E8-8257-7D9D-2D13-878FFFB520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73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D55EE59-B66F-A6D5-8C8B-14BA21E0965C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3931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36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BC16B7-26F5-AE8A-69C4-B52E9D1E16D0}"/>
                </a:ext>
              </a:extLst>
            </p:cNvPr>
            <p:cNvCxnSpPr/>
            <p:nvPr/>
          </p:nvCxnSpPr>
          <p:spPr>
            <a:xfrm>
              <a:off x="4058138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716" y="3697602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1313925"/>
            <a:ext cx="1371600" cy="365760"/>
          </a:xfrm>
        </p:spPr>
        <p:txBody>
          <a:bodyPr/>
          <a:lstStyle/>
          <a:p>
            <a:fld id="{1595A37D-65ED-114E-8FC3-F225419ED192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30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85716" y="735414"/>
            <a:ext cx="7603234" cy="3074657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51371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62A7CE-13AD-5FEE-FA58-0D3441B3B327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0495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3541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31EB0A0-A7CC-8504-4177-65CD804A8448}"/>
                </a:ext>
              </a:extLst>
            </p:cNvPr>
            <p:cNvCxnSpPr/>
            <p:nvPr/>
          </p:nvCxnSpPr>
          <p:spPr>
            <a:xfrm>
              <a:off x="8107629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83" y="4122144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883" y="28374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271" y="1313925"/>
            <a:ext cx="1371600" cy="365760"/>
          </a:xfrm>
        </p:spPr>
        <p:txBody>
          <a:bodyPr/>
          <a:lstStyle/>
          <a:p>
            <a:fld id="{93B8BCF5-A830-B246-A761-733CD2DDC555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4271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41473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0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E823EC-8489-32EA-5F8D-8414E009B5BD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4CBB51-9ABE-113B-6E8C-AD0CDD7F3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789709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689A19-D78D-952D-102D-0F52A3D8B5E4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6020166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1C9DBFA-8B2B-A34F-4E08-4CF748F83A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04975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1A5455-1C4E-10D5-1402-FDCB1F1FB7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28021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047B84F-8610-F6F6-F74D-B1627389377D}"/>
                </a:ext>
              </a:extLst>
            </p:cNvPr>
            <p:cNvCxnSpPr/>
            <p:nvPr/>
          </p:nvCxnSpPr>
          <p:spPr>
            <a:xfrm>
              <a:off x="406255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64" y="2910341"/>
            <a:ext cx="6890703" cy="2271985"/>
          </a:xfrm>
        </p:spPr>
        <p:txBody>
          <a:bodyPr anchor="ctr" anchorCtr="0"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742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942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D9E2AEEA-8DAA-A54C-8566-EFF7C409754A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902" y="2910341"/>
            <a:ext cx="2878830" cy="227199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5491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84AE9A-E1FE-B260-0209-F7A4BCE2ECD5}"/>
              </a:ext>
            </a:extLst>
          </p:cNvPr>
          <p:cNvGrpSpPr/>
          <p:nvPr userDrawn="1"/>
        </p:nvGrpSpPr>
        <p:grpSpPr>
          <a:xfrm>
            <a:off x="-20977" y="486404"/>
            <a:ext cx="12212977" cy="5885192"/>
            <a:chOff x="-20977" y="486404"/>
            <a:chExt cx="12212977" cy="588519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4EC8CD4-F749-4794-DD29-B3F5782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257A55-A75B-A688-F95E-03F34F9772A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8D13EC-2BC3-5093-97AC-927791EEA31B}"/>
                </a:ext>
              </a:extLst>
            </p:cNvPr>
            <p:cNvCxnSpPr>
              <a:cxnSpLocks/>
            </p:cNvCxnSpPr>
            <p:nvPr/>
          </p:nvCxnSpPr>
          <p:spPr>
            <a:xfrm>
              <a:off x="-19453" y="614113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89169A-38DE-8903-97EB-3CA6FE5BC931}"/>
                </a:ext>
              </a:extLst>
            </p:cNvPr>
            <p:cNvCxnSpPr>
              <a:cxnSpLocks/>
            </p:cNvCxnSpPr>
            <p:nvPr/>
          </p:nvCxnSpPr>
          <p:spPr>
            <a:xfrm>
              <a:off x="-20977" y="637159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0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36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32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2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37579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7561-8B56-7D4A-9D45-53325F938A9C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184067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200" b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2800" b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24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2953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1400" y="5110256"/>
            <a:ext cx="5029200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934B-D27D-944F-A2F7-A09FCF6E6C41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2789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225002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267563"/>
            <a:ext cx="9043416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90774"/>
            <a:ext cx="9198864" cy="3601387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FD22486-8423-2C44-89AB-B87B16F989B7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F136C3-7EC3-9A8C-7905-FCAC979CA36A}"/>
              </a:ext>
            </a:extLst>
          </p:cNvPr>
          <p:cNvGrpSpPr/>
          <p:nvPr userDrawn="1"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C98BDF-7F97-BA6B-9AA3-79C4C4E3B5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F752DBB-0B82-C2E5-E6EE-2B7D84F006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8053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D0251DA-0EA1-225F-8D19-688C1000DBAD}"/>
              </a:ext>
            </a:extLst>
          </p:cNvPr>
          <p:cNvGrpSpPr/>
          <p:nvPr userDrawn="1"/>
        </p:nvGrpSpPr>
        <p:grpSpPr>
          <a:xfrm>
            <a:off x="762" y="1395119"/>
            <a:ext cx="12191238" cy="4067763"/>
            <a:chOff x="762" y="1395119"/>
            <a:chExt cx="12191238" cy="406776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C8F0F89-259A-7D5F-9E52-07123735018F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9511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CD90A0-6C73-AB65-B20A-BAD32644A5F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2557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9A98EFE-3BD7-D800-983B-42CE5A97B9B3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2324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2DF87C7-EF0B-43B1-37A6-37216B523D36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54628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D9BD67-1776-B01D-02EA-3A9670F45750}"/>
                </a:ext>
              </a:extLst>
            </p:cNvPr>
            <p:cNvCxnSpPr>
              <a:cxnSpLocks/>
            </p:cNvCxnSpPr>
            <p:nvPr/>
          </p:nvCxnSpPr>
          <p:spPr>
            <a:xfrm>
              <a:off x="1168419" y="1625574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7775A8-BD4B-8A75-4C08-7CBFEE76BA8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3581" y="1627632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FE1105A7-4AFC-EF6E-13F2-250ACBC19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707825"/>
            <a:ext cx="9043416" cy="466344"/>
          </a:xfrm>
          <a:prstGeom prst="rect">
            <a:avLst/>
          </a:prstGeom>
          <a:ln w="15875">
            <a:noFill/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54EC-538B-EF40-B690-05585CC88731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635368"/>
            <a:ext cx="8961120" cy="3606845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059265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851C64-A7BE-1C72-3E57-4775B409DC8A}"/>
              </a:ext>
            </a:extLst>
          </p:cNvPr>
          <p:cNvGrpSpPr/>
          <p:nvPr userDrawn="1"/>
        </p:nvGrpSpPr>
        <p:grpSpPr>
          <a:xfrm>
            <a:off x="1524" y="2369525"/>
            <a:ext cx="12190476" cy="4488475"/>
            <a:chOff x="1524" y="2369525"/>
            <a:chExt cx="12190476" cy="448847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584888-406D-19CF-E760-2B48E0ABB0C8}"/>
                </a:ext>
              </a:extLst>
            </p:cNvPr>
            <p:cNvCxnSpPr>
              <a:cxnSpLocks/>
            </p:cNvCxnSpPr>
            <p:nvPr/>
          </p:nvCxnSpPr>
          <p:spPr>
            <a:xfrm>
              <a:off x="4075888" y="2606040"/>
              <a:ext cx="0" cy="425196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999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B4F06D6-F8BF-9F65-C268-860831C184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695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3" y="3275676"/>
            <a:ext cx="3595138" cy="2889149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480451A-EDD2-119A-DA35-2DFD2B2457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8859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5058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3678ED03-48B7-A743-8DD2-7FFA62A0AF1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514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DF6C894-D1B4-57D3-91A7-279AB6F954CE}"/>
              </a:ext>
            </a:extLst>
          </p:cNvPr>
          <p:cNvGrpSpPr/>
          <p:nvPr userDrawn="1"/>
        </p:nvGrpSpPr>
        <p:grpSpPr>
          <a:xfrm>
            <a:off x="2319507" y="-3644"/>
            <a:ext cx="9882118" cy="6858000"/>
            <a:chOff x="2319507" y="-3644"/>
            <a:chExt cx="9882118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ECF737A-CD16-4F1D-E4F3-176098CA58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878608" y="3425785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109065" y="3424928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997F95-5433-14AD-3BB0-7E0594932620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63" y="2239968"/>
              <a:ext cx="965166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450" y="548640"/>
            <a:ext cx="8396412" cy="1371600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D6822CD-39C0-0CC2-075F-B33EE114F0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231289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87199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3506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5D4F6C2-06EF-3BFE-5938-6C304B0949F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68712" y="6309360"/>
            <a:ext cx="1371600" cy="365760"/>
          </a:xfrm>
        </p:spPr>
        <p:txBody>
          <a:bodyPr/>
          <a:lstStyle/>
          <a:p>
            <a:fld id="{B757F186-BC5C-E049-9BED-C879FF838727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970E9DE-1854-5825-875F-2FA7606667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35830" y="6309360"/>
            <a:ext cx="2805405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8D4AEC5-2901-2491-7236-E3C375B575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88927" y="630936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412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13408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1D37-71A0-6247-B4F9-89AB56FCB9F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364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219F6FE5-28DC-924E-B335-9F73F02FD9E9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271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A69F012-8801-654E-BA91-4385C1A34D05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193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031AE-DA09-E546-8A91-03FDF50474E1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14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B5AC1EE3-8DAF-B14B-BBB9-F51C019514E2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2607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288866C-ADAB-8347-AC3F-C68495CA516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4248" y="6309360"/>
            <a:ext cx="183454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69027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585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200400"/>
            <a:ext cx="10890374" cy="27432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8CE3BE77-9432-6A4B-8CAB-C566A7B21CF4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65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4B93E9A-7B3C-D739-A537-E0C99704C1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08481" y="0"/>
            <a:ext cx="9883518" cy="6857999"/>
          </a:xfrm>
          <a:custGeom>
            <a:avLst/>
            <a:gdLst>
              <a:gd name="connsiteX0" fmla="*/ 0 w 8127902"/>
              <a:gd name="connsiteY0" fmla="*/ 5452946 h 6857999"/>
              <a:gd name="connsiteX1" fmla="*/ 8127902 w 8127902"/>
              <a:gd name="connsiteY1" fmla="*/ 5452946 h 6857999"/>
              <a:gd name="connsiteX2" fmla="*/ 8127902 w 8127902"/>
              <a:gd name="connsiteY2" fmla="*/ 6857999 h 6857999"/>
              <a:gd name="connsiteX3" fmla="*/ 0 w 8127902"/>
              <a:gd name="connsiteY3" fmla="*/ 6857999 h 6857999"/>
              <a:gd name="connsiteX4" fmla="*/ 0 w 8127902"/>
              <a:gd name="connsiteY4" fmla="*/ 0 h 6857999"/>
              <a:gd name="connsiteX5" fmla="*/ 8127902 w 8127902"/>
              <a:gd name="connsiteY5" fmla="*/ 0 h 6857999"/>
              <a:gd name="connsiteX6" fmla="*/ 8127902 w 8127902"/>
              <a:gd name="connsiteY6" fmla="*/ 1382751 h 6857999"/>
              <a:gd name="connsiteX7" fmla="*/ 0 w 8127902"/>
              <a:gd name="connsiteY7" fmla="*/ 138275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9">
                <a:moveTo>
                  <a:pt x="0" y="5452946"/>
                </a:moveTo>
                <a:lnTo>
                  <a:pt x="8127902" y="5452946"/>
                </a:lnTo>
                <a:lnTo>
                  <a:pt x="8127902" y="6857999"/>
                </a:lnTo>
                <a:lnTo>
                  <a:pt x="0" y="6857999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82751"/>
                </a:lnTo>
                <a:lnTo>
                  <a:pt x="0" y="1382751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0C21F1-162E-8951-B67D-4497E13354A2}"/>
              </a:ext>
            </a:extLst>
          </p:cNvPr>
          <p:cNvGrpSpPr/>
          <p:nvPr userDrawn="1"/>
        </p:nvGrpSpPr>
        <p:grpSpPr>
          <a:xfrm>
            <a:off x="1524" y="-1"/>
            <a:ext cx="12190476" cy="6858001"/>
            <a:chOff x="1524" y="-1"/>
            <a:chExt cx="12190476" cy="6858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91CF62-4928-7BDE-C6EE-02CDA853F4E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792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FD0D36-770E-938A-A59C-85DB2434CF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097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902DDA-71C4-D5B9-74D7-EB5DF9A7DE5D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2306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61918F-9F99-CD5F-BFE6-E39CA1548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54611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D8B191-4931-900A-AB3A-6097D34C028C}"/>
                </a:ext>
              </a:extLst>
            </p:cNvPr>
            <p:cNvCxnSpPr/>
            <p:nvPr/>
          </p:nvCxnSpPr>
          <p:spPr>
            <a:xfrm>
              <a:off x="229724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413" y="1788680"/>
            <a:ext cx="8430767" cy="184202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329" y="557784"/>
            <a:ext cx="1371600" cy="365760"/>
          </a:xfrm>
        </p:spPr>
        <p:txBody>
          <a:bodyPr/>
          <a:lstStyle/>
          <a:p>
            <a:fld id="{B1C93994-1E2D-3543-BD77-44FCFB71CAF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379" y="5748055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379" y="6143001"/>
            <a:ext cx="1463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66541" y="3784036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000" i="1"/>
            </a:lvl1pPr>
            <a:lvl2pPr marL="228600" indent="0">
              <a:buNone/>
              <a:defRPr sz="2000" i="1"/>
            </a:lvl2pPr>
            <a:lvl3pPr marL="457200" indent="0">
              <a:buNone/>
              <a:defRPr sz="2000" i="1"/>
            </a:lvl3pPr>
            <a:lvl4pPr marL="685800" indent="0">
              <a:buNone/>
              <a:defRPr sz="2000" i="1"/>
            </a:lvl4pPr>
            <a:lvl5pPr marL="914400" indent="0">
              <a:buNone/>
              <a:defRPr sz="20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17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12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187080"/>
            <a:ext cx="1371600" cy="36576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D16B9168-F6EC-AA44-B1F6-76306FA4BF2D}" type="datetime1">
              <a:rPr lang="en-US" smtClean="0"/>
              <a:pPr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7249" y="1870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2890" y="187080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70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80" r:id="rId3"/>
    <p:sldLayoutId id="2147483781" r:id="rId4"/>
    <p:sldLayoutId id="2147483782" r:id="rId5"/>
    <p:sldLayoutId id="2147483783" r:id="rId6"/>
    <p:sldLayoutId id="2147483839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79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  <p:sldLayoutId id="2147483805" r:id="rId30"/>
    <p:sldLayoutId id="2147483806" r:id="rId31"/>
    <p:sldLayoutId id="2147483807" r:id="rId32"/>
    <p:sldLayoutId id="2147483808" r:id="rId33"/>
    <p:sldLayoutId id="2147483810" r:id="rId34"/>
    <p:sldLayoutId id="2147483811" r:id="rId35"/>
    <p:sldLayoutId id="2147483812" r:id="rId36"/>
    <p:sldLayoutId id="2147483813" r:id="rId37"/>
    <p:sldLayoutId id="2147483815" r:id="rId38"/>
    <p:sldLayoutId id="2147483816" r:id="rId39"/>
    <p:sldLayoutId id="2147483817" r:id="rId40"/>
    <p:sldLayoutId id="2147483809" r:id="rId41"/>
    <p:sldLayoutId id="2147483814" r:id="rId42"/>
    <p:sldLayoutId id="2147483819" r:id="rId43"/>
    <p:sldLayoutId id="2147483820" r:id="rId44"/>
    <p:sldLayoutId id="2147483821" r:id="rId45"/>
    <p:sldLayoutId id="2147483822" r:id="rId46"/>
    <p:sldLayoutId id="2147483818" r:id="rId47"/>
    <p:sldLayoutId id="2147483823" r:id="rId48"/>
    <p:sldLayoutId id="2147483825" r:id="rId49"/>
    <p:sldLayoutId id="2147483826" r:id="rId50"/>
    <p:sldLayoutId id="2147483827" r:id="rId51"/>
    <p:sldLayoutId id="2147483828" r:id="rId52"/>
    <p:sldLayoutId id="2147483829" r:id="rId53"/>
    <p:sldLayoutId id="2147483830" r:id="rId54"/>
    <p:sldLayoutId id="2147483831" r:id="rId55"/>
    <p:sldLayoutId id="2147483832" r:id="rId56"/>
    <p:sldLayoutId id="2147483833" r:id="rId57"/>
    <p:sldLayoutId id="2147483834" r:id="rId58"/>
    <p:sldLayoutId id="2147483835" r:id="rId59"/>
    <p:sldLayoutId id="2147483836" r:id="rId60"/>
    <p:sldLayoutId id="2147483837" r:id="rId61"/>
    <p:sldLayoutId id="2147483838" r:id="rId62"/>
    <p:sldLayoutId id="2147483840" r:id="rId63"/>
  </p:sldLayoutIdLst>
  <p:hf sldNum="0"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6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44.png"/><Relationship Id="rId4" Type="http://schemas.openxmlformats.org/officeDocument/2006/relationships/image" Target="../media/image3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EB7006-F452-AE5A-DF0E-684DACC6A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itstream Charter"/>
                <a:ea typeface="Bitstream Charter"/>
                <a:cs typeface="Bitstream Charter"/>
              </a:rPr>
              <a:t>Washington Electric Vehicle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itstream Charter"/>
                <a:ea typeface="Bitstream Charter"/>
                <a:cs typeface="Bitstream Charter"/>
              </a:rPr>
            </a:b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itstream Charter"/>
                <a:ea typeface="Bitstream Charter"/>
                <a:cs typeface="Bitstream Charter"/>
              </a:rPr>
              <a:t>Population Analysis</a:t>
            </a:r>
            <a:br>
              <a:rPr lang="en-US" b="1" dirty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</a:br>
            <a:endParaRPr lang="en-US" dirty="0"/>
          </a:p>
        </p:txBody>
      </p:sp>
      <p:pic>
        <p:nvPicPr>
          <p:cNvPr id="7" name="Picture Placeholder 6" descr="A group of horses running in the dust">
            <a:extLst>
              <a:ext uri="{FF2B5EF4-FFF2-40B4-BE49-F238E27FC236}">
                <a16:creationId xmlns:a16="http://schemas.microsoft.com/office/drawing/2014/main" id="{801B52E4-5A3E-2BC1-3EBB-1BABD7ACD26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572000"/>
            <a:ext cx="12191999" cy="2286000"/>
          </a:xfrm>
          <a:noFill/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778AC6CA-478E-C9E1-D6DD-17E204C12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/>
          <a:lstStyle/>
          <a:p>
            <a:pPr>
              <a:defRPr sz="1725" b="0">
                <a:solidFill>
                  <a:srgbClr val="C9D8E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Bitstream Charter"/>
                <a:ea typeface="Bitstream Charter"/>
                <a:cs typeface="Bitstream Charter"/>
              </a:rPr>
              <a:t>Current registration patterns, geographic concentration and stakeholder implications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D3531-49C6-C8D3-3030-A7A1324B55C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951976" y="5001768"/>
            <a:ext cx="2295144" cy="99159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Bitstream Charter"/>
                <a:ea typeface="Bitstream Charter"/>
                <a:cs typeface="Bitstream Charter"/>
              </a:rPr>
              <a:t>Data extracted 23 September 2026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0F1E5-3195-5A64-6DC1-A7479B07C5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137" y="741308"/>
            <a:ext cx="702945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4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20564-F972-E203-EE35-C950B9CF3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/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b="1" dirty="0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Executive summary</a:t>
            </a:r>
            <a:br>
              <a:rPr lang="en-US" b="1" dirty="0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Bitstream Charter"/>
                <a:ea typeface="Bitstream Charter"/>
                <a:cs typeface="Bitstream Charter"/>
              </a:rPr>
              <a:t>What the current registration snapshot tells stakeholders</a:t>
            </a:r>
            <a:br>
              <a:rPr lang="en-US" sz="2800" dirty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</a:br>
            <a:endParaRPr lang="en-US" b="1" dirty="0">
              <a:solidFill>
                <a:srgbClr val="102A43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2" name="Picture Placeholder 11" descr="A close-up of clouds in the sky">
            <a:extLst>
              <a:ext uri="{FF2B5EF4-FFF2-40B4-BE49-F238E27FC236}">
                <a16:creationId xmlns:a16="http://schemas.microsoft.com/office/drawing/2014/main" id="{70FEB2CF-438C-9F4C-380C-DC90E74CD15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9" b="19"/>
          <a:stretch/>
        </p:blipFill>
        <p:spPr>
          <a:xfrm>
            <a:off x="4064097" y="-1"/>
            <a:ext cx="8127902" cy="6857991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73658-2FC7-ACE2-A789-1E19C74F85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0442" y="2158528"/>
            <a:ext cx="6785736" cy="25146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Overview</a:t>
            </a:r>
          </a:p>
          <a:p>
            <a:r>
              <a:rPr lang="en-US" b="1" dirty="0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Three findings for decision makers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Bitstream Charter"/>
                <a:cs typeface="Segoe UI" panose="020B0502040204020203" pitchFamily="34" charset="0"/>
              </a:rPr>
              <a:t>The registered fleet is predominantly battery electric, while PHEVs account for 19.3%.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Bitstream Charter"/>
                <a:cs typeface="Segoe UI" panose="020B0502040204020203" pitchFamily="34" charset="0"/>
              </a:rPr>
              <a:t>Registrations are highly concentrated. King County alone represents nearly half of Washington records.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registered EV population is heavily represented by recent model years. Among the model years displayed, 2023 has the largest number of vehicles.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Bitstream Charter"/>
              <a:cs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CD2E4C-E71E-44A7-ACAF-372F75E117DB}"/>
              </a:ext>
            </a:extLst>
          </p:cNvPr>
          <p:cNvSpPr>
            <a:spLocks noGrp="1"/>
          </p:cNvSpPr>
          <p:nvPr/>
        </p:nvSpPr>
        <p:spPr>
          <a:xfrm>
            <a:off x="4353119" y="126246"/>
            <a:ext cx="1882486" cy="1054413"/>
          </a:xfrm>
          <a:prstGeom prst="roundRect">
            <a:avLst>
              <a:gd name="adj" fmla="val 6349"/>
            </a:avLst>
          </a:prstGeom>
          <a:solidFill>
            <a:srgbClr val="F4F7FA"/>
          </a:solidFill>
          <a:ln w="9525">
            <a:solidFill>
              <a:srgbClr val="D8E2EA"/>
            </a:solidFill>
          </a:ln>
        </p:spPr>
        <p:txBody>
          <a:bodyPr/>
          <a:lstStyle/>
          <a:p>
            <a:pPr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b="1" dirty="0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80.7%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CD2E4C-E71E-44A7-ACAF-372F75E117DB}"/>
              </a:ext>
            </a:extLst>
          </p:cNvPr>
          <p:cNvSpPr>
            <a:spLocks noGrp="1"/>
          </p:cNvSpPr>
          <p:nvPr/>
        </p:nvSpPr>
        <p:spPr>
          <a:xfrm>
            <a:off x="7570235" y="83126"/>
            <a:ext cx="1882486" cy="1054413"/>
          </a:xfrm>
          <a:prstGeom prst="roundRect">
            <a:avLst>
              <a:gd name="adj" fmla="val 6349"/>
            </a:avLst>
          </a:prstGeom>
          <a:solidFill>
            <a:srgbClr val="F4F7FA"/>
          </a:solidFill>
          <a:ln w="9525">
            <a:solidFill>
              <a:srgbClr val="D8E2EA"/>
            </a:solidFill>
          </a:ln>
        </p:spPr>
        <p:txBody>
          <a:bodyPr/>
          <a:lstStyle/>
          <a:p>
            <a:pPr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41.0%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CD2E4C-E71E-44A7-ACAF-372F75E117DB}"/>
              </a:ext>
            </a:extLst>
          </p:cNvPr>
          <p:cNvSpPr>
            <a:spLocks noGrp="1"/>
          </p:cNvSpPr>
          <p:nvPr/>
        </p:nvSpPr>
        <p:spPr>
          <a:xfrm>
            <a:off x="10301504" y="83126"/>
            <a:ext cx="1796009" cy="1025163"/>
          </a:xfrm>
          <a:prstGeom prst="roundRect">
            <a:avLst>
              <a:gd name="adj" fmla="val 6349"/>
            </a:avLst>
          </a:prstGeom>
          <a:solidFill>
            <a:srgbClr val="F4F7FA"/>
          </a:solidFill>
          <a:ln w="9525">
            <a:solidFill>
              <a:srgbClr val="D8E2EA"/>
            </a:solidFill>
          </a:ln>
        </p:spPr>
        <p:txBody>
          <a:bodyPr/>
          <a:lstStyle/>
          <a:p>
            <a:pPr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79.2%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A717A8-2C54-29CA-BB58-FD9CC2725083}"/>
              </a:ext>
            </a:extLst>
          </p:cNvPr>
          <p:cNvSpPr txBox="1"/>
          <p:nvPr/>
        </p:nvSpPr>
        <p:spPr>
          <a:xfrm>
            <a:off x="10486423" y="646624"/>
            <a:ext cx="1472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200" b="1" dirty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Top five WA counties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58C2EE7-9351-57DE-DCA3-D93D027529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56" y="-33459"/>
            <a:ext cx="4064097" cy="1450779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0B0B36F-EC44-F996-9F3A-B6DB6FAD1CEA}"/>
              </a:ext>
            </a:extLst>
          </p:cNvPr>
          <p:cNvSpPr txBox="1"/>
          <p:nvPr/>
        </p:nvSpPr>
        <p:spPr>
          <a:xfrm>
            <a:off x="4399846" y="718994"/>
            <a:ext cx="1417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200" b="1" dirty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Battery electric share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9D4304-BB14-C91B-E363-C52826F4DC28}"/>
              </a:ext>
            </a:extLst>
          </p:cNvPr>
          <p:cNvSpPr txBox="1"/>
          <p:nvPr/>
        </p:nvSpPr>
        <p:spPr>
          <a:xfrm>
            <a:off x="7693233" y="738958"/>
            <a:ext cx="8778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200" b="1" dirty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Tesla share</a:t>
            </a:r>
          </a:p>
        </p:txBody>
      </p:sp>
    </p:spTree>
    <p:extLst>
      <p:ext uri="{BB962C8B-B14F-4D97-AF65-F5344CB8AC3E}">
        <p14:creationId xmlns:p14="http://schemas.microsoft.com/office/powerpoint/2010/main" val="538975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1914-BBFF-7BEB-F661-B686E5BB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591564"/>
            <a:ext cx="3158356" cy="3068913"/>
          </a:xfrm>
        </p:spPr>
        <p:txBody>
          <a:bodyPr anchor="ctr" anchorCtr="0"/>
          <a:lstStyle/>
          <a:p>
            <a:r>
              <a:rPr lang="en-US" dirty="0"/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F2383-FD83-D36D-50C0-8AE93BEF42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50391" y="591563"/>
            <a:ext cx="6742010" cy="2224789"/>
          </a:xfrm>
        </p:spPr>
        <p:txBody>
          <a:bodyPr anchor="ctr" anchorCtr="0"/>
          <a:lstStyle/>
          <a:p>
            <a:r>
              <a:rPr lang="en-US" dirty="0"/>
              <a:t>The project analyzes registered EV (Electric-Vehicle) population distributed across manufacturers, models, vehicle types, geography, model years, electric range, and clean-fuel eligibility.</a:t>
            </a:r>
          </a:p>
        </p:txBody>
      </p:sp>
      <p:pic>
        <p:nvPicPr>
          <p:cNvPr id="8" name="Picture Placeholder 8" descr="A spiral staircase ">
            <a:extLst>
              <a:ext uri="{FF2B5EF4-FFF2-40B4-BE49-F238E27FC236}">
                <a16:creationId xmlns:a16="http://schemas.microsoft.com/office/drawing/2014/main" id="{9820F04A-D5F8-38C8-B5B9-48869325080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504544"/>
            <a:ext cx="12192000" cy="2353456"/>
          </a:xfr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E083E6-D9DC-01DE-0028-5A08762CD7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504" y="3081528"/>
            <a:ext cx="8159495" cy="377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84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181C247-E655-4041-AEED-284B402A72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1C58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091B3F-D26A-4E83-91D3-DF9EABE75C88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Battery electric vehicles dominate the registered fleet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0DF012-41B3-4FC2-9E41-7A15549E000C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  <a:t>BEVs account for four of every five records in the current extract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A3F860-2BAB-4DD2-B000-0B127BC147EB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9" name="Chart"/>
          <p:cNvGraphicFramePr/>
          <p:nvPr>
            <p:extLst>
              <p:ext uri="{D42A27DB-BD31-4B8C-83A1-F6EECF244321}">
                <p14:modId xmlns:p14="http://schemas.microsoft.com/office/powerpoint/2010/main" val="1135553612"/>
              </p:ext>
            </p:extLst>
          </p:nvPr>
        </p:nvGraphicFramePr>
        <p:xfrm>
          <a:off x="762000" y="1666875"/>
          <a:ext cx="51435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289CAB-69EA-48E8-9D21-75E0C28324AA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762500" cy="3619500"/>
          </a:xfrm>
          <a:prstGeom prst="roundRect">
            <a:avLst>
              <a:gd name="adj" fmla="val 2105"/>
            </a:avLst>
          </a:prstGeom>
          <a:solidFill>
            <a:srgbClr val="EAF5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EE7EB5-196C-442E-8C68-428752B72F10}"/>
              </a:ext>
            </a:extLst>
          </p:cNvPr>
          <p:cNvSpPr>
            <a:spLocks noGrp="1"/>
          </p:cNvSpPr>
          <p:nvPr/>
        </p:nvSpPr>
        <p:spPr>
          <a:xfrm>
            <a:off x="6858000" y="2095500"/>
            <a:ext cx="4000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241,724  |  80.7%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C59F52-77B4-4898-8460-919EF1033664}"/>
              </a:ext>
            </a:extLst>
          </p:cNvPr>
          <p:cNvSpPr>
            <a:spLocks noGrp="1"/>
          </p:cNvSpPr>
          <p:nvPr/>
        </p:nvSpPr>
        <p:spPr>
          <a:xfrm>
            <a:off x="6858000" y="270510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Battery Electric Vehicles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D6DCEB-B823-48B0-ADDE-8E42EE992879}"/>
              </a:ext>
            </a:extLst>
          </p:cNvPr>
          <p:cNvSpPr>
            <a:spLocks noGrp="1"/>
          </p:cNvSpPr>
          <p:nvPr/>
        </p:nvSpPr>
        <p:spPr>
          <a:xfrm>
            <a:off x="6858000" y="3333750"/>
            <a:ext cx="4000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976A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976A3"/>
                </a:solidFill>
                <a:latin typeface="Bitstream Charter"/>
                <a:ea typeface="Bitstream Charter"/>
                <a:cs typeface="Bitstream Charter"/>
              </a:rPr>
              <a:t>57,981  |  19.3%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40A1B4-603F-44C3-BEBC-7B73CABB5088}"/>
              </a:ext>
            </a:extLst>
          </p:cNvPr>
          <p:cNvSpPr>
            <a:spLocks noGrp="1"/>
          </p:cNvSpPr>
          <p:nvPr/>
        </p:nvSpPr>
        <p:spPr>
          <a:xfrm>
            <a:off x="6858000" y="394335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Plug-in Hybrid Electric Vehicles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E290EC-3E42-4E93-88D9-19E6BE528125}"/>
              </a:ext>
            </a:extLst>
          </p:cNvPr>
          <p:cNvSpPr>
            <a:spLocks noGrp="1"/>
          </p:cNvSpPr>
          <p:nvPr/>
        </p:nvSpPr>
        <p:spPr>
          <a:xfrm>
            <a:off x="11096625" y="64484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r">
              <a:defRPr sz="900" b="1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94576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0CE31E4-A692-4F83-9CE5-E33FABE2C0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1C58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AC1FD5-C815-4F12-9265-114380B04A0E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Tesla represents 41% of current registrations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10CBC7-412E-4477-ABB5-CBF7CD6A660B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  <a:t>The top five manufacturers account for 63.5% of the dataset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541BFE-1350-42B7-91A4-059D08CBBA3C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9" name="Chart"/>
          <p:cNvGraphicFramePr/>
          <p:nvPr/>
        </p:nvGraphicFramePr>
        <p:xfrm>
          <a:off x="714375" y="1619250"/>
          <a:ext cx="781050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D1DDDB-448F-4FAA-A30C-ECAA402A7298}"/>
              </a:ext>
            </a:extLst>
          </p:cNvPr>
          <p:cNvSpPr>
            <a:spLocks noGrp="1"/>
          </p:cNvSpPr>
          <p:nvPr/>
        </p:nvSpPr>
        <p:spPr>
          <a:xfrm>
            <a:off x="8858250" y="1809750"/>
            <a:ext cx="2476500" cy="2952750"/>
          </a:xfrm>
          <a:prstGeom prst="roundRect">
            <a:avLst>
              <a:gd name="adj" fmla="val 3077"/>
            </a:avLst>
          </a:prstGeom>
          <a:solidFill>
            <a:srgbClr val="EAF5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48B6C9-645D-4463-86DC-CB3ECFC6F7B6}"/>
              </a:ext>
            </a:extLst>
          </p:cNvPr>
          <p:cNvSpPr>
            <a:spLocks noGrp="1"/>
          </p:cNvSpPr>
          <p:nvPr/>
        </p:nvSpPr>
        <p:spPr>
          <a:xfrm>
            <a:off x="9096375" y="2095500"/>
            <a:ext cx="20002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2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41.0%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D0D392-E765-483B-A677-BECB5529E2FD}"/>
              </a:ext>
            </a:extLst>
          </p:cNvPr>
          <p:cNvSpPr>
            <a:spLocks noGrp="1"/>
          </p:cNvSpPr>
          <p:nvPr/>
        </p:nvSpPr>
        <p:spPr>
          <a:xfrm>
            <a:off x="9096375" y="2714625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33"/>
          </a:bodyPr>
          <a:lstStyle/>
          <a:p>
            <a:pPr algn="ctr">
              <a:defRPr sz="150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Tesla share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2C3D2F-603E-4E4F-83D2-00258B777BFC}"/>
              </a:ext>
            </a:extLst>
          </p:cNvPr>
          <p:cNvSpPr>
            <a:spLocks noGrp="1"/>
          </p:cNvSpPr>
          <p:nvPr/>
        </p:nvSpPr>
        <p:spPr>
          <a:xfrm>
            <a:off x="9191625" y="3257550"/>
            <a:ext cx="1809750" cy="19050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B3FC35-38C9-403D-9756-560BD7D3A929}"/>
              </a:ext>
            </a:extLst>
          </p:cNvPr>
          <p:cNvSpPr>
            <a:spLocks noGrp="1"/>
          </p:cNvSpPr>
          <p:nvPr/>
        </p:nvSpPr>
        <p:spPr>
          <a:xfrm>
            <a:off x="9096375" y="3476625"/>
            <a:ext cx="2000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850" b="1">
                <a:solidFill>
                  <a:srgbClr val="61C5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61C58B"/>
                </a:solidFill>
                <a:latin typeface="Bitstream Charter"/>
                <a:ea typeface="Bitstream Charter"/>
                <a:cs typeface="Bitstream Charter"/>
              </a:rPr>
              <a:t>63.5%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C0B66B-CEC1-4485-9992-715635418865}"/>
              </a:ext>
            </a:extLst>
          </p:cNvPr>
          <p:cNvSpPr>
            <a:spLocks noGrp="1"/>
          </p:cNvSpPr>
          <p:nvPr/>
        </p:nvSpPr>
        <p:spPr>
          <a:xfrm>
            <a:off x="9096375" y="4048125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Top five makes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E2DCA-117F-43E0-BCB4-457C89A30BCD}"/>
              </a:ext>
            </a:extLst>
          </p:cNvPr>
          <p:cNvSpPr>
            <a:spLocks noGrp="1"/>
          </p:cNvSpPr>
          <p:nvPr/>
        </p:nvSpPr>
        <p:spPr>
          <a:xfrm>
            <a:off x="8858250" y="5000625"/>
            <a:ext cx="2476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  <a:t>Counts describe registrations, not new-vehicle sales.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BA6B20-CAE3-464F-A7F0-B1502132731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  <a:t>Manufacturer counts include all current records in the extract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070918-E95B-4FA2-9D23-AA8A3CE38D96}"/>
              </a:ext>
            </a:extLst>
          </p:cNvPr>
          <p:cNvSpPr>
            <a:spLocks noGrp="1"/>
          </p:cNvSpPr>
          <p:nvPr/>
        </p:nvSpPr>
        <p:spPr>
          <a:xfrm>
            <a:off x="11096625" y="64484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r">
              <a:defRPr sz="900" b="1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200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8AA67EB-FC5F-4527-8F0A-1C3AB9F0FF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1C58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8F10F0-ACBC-491B-81E1-6719F81967B1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Model Y and Model 3 lead the vehicle mix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092491-2FBC-4BB9-8E63-44B068977C00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  <a:t>Tesla's two leading models account for 105,936 registrations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89E8D2-85BA-4C6C-B4B3-C301885CCDFB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8" name="Chart"/>
          <p:cNvGraphicFramePr/>
          <p:nvPr/>
        </p:nvGraphicFramePr>
        <p:xfrm>
          <a:off x="666750" y="1571625"/>
          <a:ext cx="838200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59AB03-2161-496A-9097-1E4B19F838E1}"/>
              </a:ext>
            </a:extLst>
          </p:cNvPr>
          <p:cNvSpPr>
            <a:spLocks noGrp="1"/>
          </p:cNvSpPr>
          <p:nvPr/>
        </p:nvSpPr>
        <p:spPr>
          <a:xfrm>
            <a:off x="9334500" y="1809750"/>
            <a:ext cx="2095500" cy="314325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9525">
            <a:solidFill>
              <a:srgbClr val="D8E2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BC5F93-3536-497E-9562-6F3832C2BA02}"/>
              </a:ext>
            </a:extLst>
          </p:cNvPr>
          <p:cNvSpPr>
            <a:spLocks noGrp="1"/>
          </p:cNvSpPr>
          <p:nvPr/>
        </p:nvSpPr>
        <p:spPr>
          <a:xfrm>
            <a:off x="9477375" y="219075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0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35.3%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24F511-72E0-499F-B510-BBAB22998968}"/>
              </a:ext>
            </a:extLst>
          </p:cNvPr>
          <p:cNvSpPr>
            <a:spLocks noGrp="1"/>
          </p:cNvSpPr>
          <p:nvPr/>
        </p:nvSpPr>
        <p:spPr>
          <a:xfrm>
            <a:off x="9525000" y="2762250"/>
            <a:ext cx="1714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25"/>
          </a:bodyPr>
          <a:lstStyle/>
          <a:p>
            <a:pPr algn="ctr">
              <a:defRPr sz="135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Model Y + Model 3</a:t>
            </a:r>
          </a:p>
          <a:p>
            <a:pPr algn="ctr">
              <a:defRPr sz="135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share of all records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B8D2A7-33A6-4615-8884-D1D18F9D0349}"/>
              </a:ext>
            </a:extLst>
          </p:cNvPr>
          <p:cNvSpPr>
            <a:spLocks noGrp="1"/>
          </p:cNvSpPr>
          <p:nvPr/>
        </p:nvSpPr>
        <p:spPr>
          <a:xfrm>
            <a:off x="9667875" y="3667125"/>
            <a:ext cx="1428750" cy="19050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821D43-D84E-4D82-86AB-436D64885801}"/>
              </a:ext>
            </a:extLst>
          </p:cNvPr>
          <p:cNvSpPr>
            <a:spLocks noGrp="1"/>
          </p:cNvSpPr>
          <p:nvPr/>
        </p:nvSpPr>
        <p:spPr>
          <a:xfrm>
            <a:off x="9525000" y="3905250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48"/>
          </a:bodyPr>
          <a:lstStyle/>
          <a:p>
            <a:pPr algn="ctr">
              <a:defRPr sz="2700" b="1">
                <a:solidFill>
                  <a:srgbClr val="1976A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976A3"/>
                </a:solidFill>
                <a:latin typeface="Bitstream Charter"/>
                <a:ea typeface="Bitstream Charter"/>
                <a:cs typeface="Bitstream Charter"/>
              </a:rPr>
              <a:t>202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016E5D-21F6-4656-82BF-DB97B36A61B8}"/>
              </a:ext>
            </a:extLst>
          </p:cNvPr>
          <p:cNvSpPr>
            <a:spLocks noGrp="1"/>
          </p:cNvSpPr>
          <p:nvPr/>
        </p:nvSpPr>
        <p:spPr>
          <a:xfrm>
            <a:off x="9525000" y="44005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ctr">
              <a:defRPr sz="1275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distinct models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BDD6F-1B9E-4C4F-A9D9-50F24C37126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  <a:t>Make and model grouped together to avoid ambiguous model names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AB1299-7750-499C-BEA3-7B9E77B9F490}"/>
              </a:ext>
            </a:extLst>
          </p:cNvPr>
          <p:cNvSpPr>
            <a:spLocks noGrp="1"/>
          </p:cNvSpPr>
          <p:nvPr/>
        </p:nvSpPr>
        <p:spPr>
          <a:xfrm>
            <a:off x="11096625" y="64484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r">
              <a:defRPr sz="900" b="1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1809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13">
            <a:extLst>
              <a:ext uri="{FF2B5EF4-FFF2-40B4-BE49-F238E27FC236}">
                <a16:creationId xmlns:a16="http://schemas.microsoft.com/office/drawing/2014/main" id="{E5C011C1-523E-706F-7D37-814CC80D98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" name="Picture Placeholder 17" descr="A group of people walking in a hallway">
            <a:extLst>
              <a:ext uri="{FF2B5EF4-FFF2-40B4-BE49-F238E27FC236}">
                <a16:creationId xmlns:a16="http://schemas.microsoft.com/office/drawing/2014/main" id="{FE294F62-5441-D237-1F5F-B7C6BCD6BAE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312988" cy="6858000"/>
          </a:xfr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8E54CC-64CF-08B3-7B95-28A3FFF6C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7744"/>
            <a:ext cx="2554252" cy="66202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3836A3-CC39-A01F-0D05-7C5B04F38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064" y="2487165"/>
            <a:ext cx="9089136" cy="41548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635B35-2527-24AD-3869-B0E33F093FF4}"/>
              </a:ext>
            </a:extLst>
          </p:cNvPr>
          <p:cNvSpPr txBox="1"/>
          <p:nvPr/>
        </p:nvSpPr>
        <p:spPr>
          <a:xfrm>
            <a:off x="3848968" y="839111"/>
            <a:ext cx="80382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The registered EV population is heavily represented by recent model years. Among the model years displayed, 2023 has the largest number of vehicles</a:t>
            </a:r>
          </a:p>
        </p:txBody>
      </p:sp>
    </p:spTree>
    <p:extLst>
      <p:ext uri="{BB962C8B-B14F-4D97-AF65-F5344CB8AC3E}">
        <p14:creationId xmlns:p14="http://schemas.microsoft.com/office/powerpoint/2010/main" val="218382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441CFF3-CAEB-44BF-893E-C1D0A1FD46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1C58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6B428B-F314-443A-AC54-3F252ABE6C72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Five counties contain 79.2% of Washington EV records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41EEE9-B3BE-470B-8A32-F8B2286563A9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  <a:t>King County accounts for 48.3% of records with state = WA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84DEFF-9790-4E86-9D9C-6CDECAB55FF8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8" name="Chart"/>
          <p:cNvGraphicFramePr/>
          <p:nvPr/>
        </p:nvGraphicFramePr>
        <p:xfrm>
          <a:off x="666750" y="1571625"/>
          <a:ext cx="7953375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786CD8-1C4E-4E33-AFDC-B7931F6A5F24}"/>
              </a:ext>
            </a:extLst>
          </p:cNvPr>
          <p:cNvSpPr>
            <a:spLocks noGrp="1"/>
          </p:cNvSpPr>
          <p:nvPr/>
        </p:nvSpPr>
        <p:spPr>
          <a:xfrm>
            <a:off x="8953500" y="1762125"/>
            <a:ext cx="2381250" cy="1666875"/>
          </a:xfrm>
          <a:prstGeom prst="roundRect">
            <a:avLst>
              <a:gd name="adj" fmla="val 4571"/>
            </a:avLst>
          </a:prstGeom>
          <a:solidFill>
            <a:srgbClr val="EAF5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18C040-9FCC-44DC-BF88-E9A2B2353A2E}"/>
              </a:ext>
            </a:extLst>
          </p:cNvPr>
          <p:cNvSpPr>
            <a:spLocks noGrp="1"/>
          </p:cNvSpPr>
          <p:nvPr/>
        </p:nvSpPr>
        <p:spPr>
          <a:xfrm>
            <a:off x="9144000" y="2038350"/>
            <a:ext cx="2000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1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79.2%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060C99-68FF-47DF-9CFD-1EF07DE03264}"/>
              </a:ext>
            </a:extLst>
          </p:cNvPr>
          <p:cNvSpPr>
            <a:spLocks noGrp="1"/>
          </p:cNvSpPr>
          <p:nvPr/>
        </p:nvSpPr>
        <p:spPr>
          <a:xfrm>
            <a:off x="9144000" y="26479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Top five counties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1AA988-07AA-4642-B7D2-C6EA81FA5992}"/>
              </a:ext>
            </a:extLst>
          </p:cNvPr>
          <p:cNvSpPr>
            <a:spLocks noGrp="1"/>
          </p:cNvSpPr>
          <p:nvPr/>
        </p:nvSpPr>
        <p:spPr>
          <a:xfrm>
            <a:off x="8953500" y="3667125"/>
            <a:ext cx="2381250" cy="1809750"/>
          </a:xfrm>
          <a:prstGeom prst="roundRect">
            <a:avLst>
              <a:gd name="adj" fmla="val 4211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9A5D98-D606-4BC3-B171-E800B29AF695}"/>
              </a:ext>
            </a:extLst>
          </p:cNvPr>
          <p:cNvSpPr>
            <a:spLocks noGrp="1"/>
          </p:cNvSpPr>
          <p:nvPr/>
        </p:nvSpPr>
        <p:spPr>
          <a:xfrm>
            <a:off x="9144000" y="38766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558" lnSpcReduction="10000"/>
          </a:bodyPr>
          <a:lstStyle/>
          <a:p>
            <a:pPr algn="ctr">
              <a:defRPr sz="1350" b="1">
                <a:solidFill>
                  <a:srgbClr val="8A4B0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8A4B08"/>
                </a:solidFill>
                <a:latin typeface="Bitstream Charter"/>
                <a:ea typeface="Bitstream Charter"/>
                <a:cs typeface="Bitstream Charter"/>
              </a:rPr>
              <a:t>Use rates for comparison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442DC5-86E0-4E04-AA79-77D151523583}"/>
              </a:ext>
            </a:extLst>
          </p:cNvPr>
          <p:cNvSpPr>
            <a:spLocks noGrp="1"/>
          </p:cNvSpPr>
          <p:nvPr/>
        </p:nvSpPr>
        <p:spPr>
          <a:xfrm>
            <a:off x="9144000" y="4238625"/>
            <a:ext cx="200025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Raw counts reflect population size. Add county population or total registered vehicles before comparing adoption.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A4A2D3-05E5-47C7-9A91-D4A4DDBF3F3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  <a:t>Base: 298,916 records where state = WA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B9E77F-6F30-45F8-907E-A0B1797DFC80}"/>
              </a:ext>
            </a:extLst>
          </p:cNvPr>
          <p:cNvSpPr>
            <a:spLocks noGrp="1"/>
          </p:cNvSpPr>
          <p:nvPr/>
        </p:nvSpPr>
        <p:spPr>
          <a:xfrm>
            <a:off x="11096625" y="64484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r">
              <a:defRPr sz="900" b="1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4657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close-up of clouds in the sky">
            <a:extLst>
              <a:ext uri="{FF2B5EF4-FFF2-40B4-BE49-F238E27FC236}">
                <a16:creationId xmlns:a16="http://schemas.microsoft.com/office/drawing/2014/main" id="{7B4F9039-9775-A9CB-E697-D11F8C12CFF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2064" y="1615439"/>
            <a:ext cx="4059936" cy="3606985"/>
          </a:xfr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6474CC-C425-7F20-1731-055A7BF91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942" y="1635576"/>
            <a:ext cx="4010058" cy="35216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6D7D6C-C9BE-5A88-E4A1-54F16A39C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5" y="2119262"/>
            <a:ext cx="7735824" cy="45204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C7DEA6-4AD5-75CA-245D-5FEAA4663050}"/>
              </a:ext>
            </a:extLst>
          </p:cNvPr>
          <p:cNvSpPr txBox="1"/>
          <p:nvPr/>
        </p:nvSpPr>
        <p:spPr>
          <a:xfrm>
            <a:off x="710946" y="365760"/>
            <a:ext cx="6064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The top manufacturers do not have the same EV mix. Tesla and Nissan are almost entirely represented by BEVs, while Chevrolet, Ford, and Kia have a more mixed BEV/PHEV presence.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776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239675A-E4A5-4607-9B32-D1161C967C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1C58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EDAECB-A9C6-469F-92F5-BEF4C4D1F8A5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8E2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330487-AF4D-4E06-8B41-3033EA093BAE}"/>
              </a:ext>
            </a:extLst>
          </p:cNvPr>
          <p:cNvSpPr>
            <a:spLocks noGrp="1"/>
          </p:cNvSpPr>
          <p:nvPr/>
        </p:nvSpPr>
        <p:spPr>
          <a:xfrm>
            <a:off x="7048500" y="3695700"/>
            <a:ext cx="3905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73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CAFV eligibility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061B22-3878-4D31-B40B-11755D34807B}"/>
              </a:ext>
            </a:extLst>
          </p:cNvPr>
          <p:cNvSpPr>
            <a:spLocks noGrp="1"/>
          </p:cNvSpPr>
          <p:nvPr/>
        </p:nvSpPr>
        <p:spPr>
          <a:xfrm>
            <a:off x="7048500" y="4114800"/>
            <a:ext cx="14763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73" lnSpcReduction="10000"/>
          </a:bodyPr>
          <a:lstStyle/>
          <a:p>
            <a:pPr algn="l">
              <a:defRPr sz="2325" b="1">
                <a:solidFill>
                  <a:srgbClr val="F4A2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4A261"/>
                </a:solidFill>
                <a:latin typeface="Bitstream Charter"/>
                <a:ea typeface="Bitstream Charter"/>
                <a:cs typeface="Bitstream Charter"/>
              </a:rPr>
              <a:t>196,235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EEB119-EC62-4D74-ABF8-D74F67D67AAB}"/>
              </a:ext>
            </a:extLst>
          </p:cNvPr>
          <p:cNvSpPr>
            <a:spLocks noGrp="1"/>
          </p:cNvSpPr>
          <p:nvPr/>
        </p:nvSpPr>
        <p:spPr>
          <a:xfrm>
            <a:off x="8524875" y="4095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Unknown because range has not been researched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C7D1ED-ED26-45FA-9B2F-53A07C709E09}"/>
              </a:ext>
            </a:extLst>
          </p:cNvPr>
          <p:cNvSpPr>
            <a:spLocks noGrp="1"/>
          </p:cNvSpPr>
          <p:nvPr/>
        </p:nvSpPr>
        <p:spPr>
          <a:xfrm>
            <a:off x="7048500" y="4667250"/>
            <a:ext cx="14763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73" lnSpcReduction="10000"/>
          </a:bodyPr>
          <a:lstStyle/>
          <a:p>
            <a:pPr algn="l">
              <a:defRPr sz="2325" b="1">
                <a:solidFill>
                  <a:srgbClr val="61C5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61C58B"/>
                </a:solidFill>
                <a:latin typeface="Bitstream Charter"/>
                <a:ea typeface="Bitstream Charter"/>
                <a:cs typeface="Bitstream Charter"/>
              </a:rPr>
              <a:t>79,293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33ED90-C084-4FA4-8193-73B9CBF29DB4}"/>
              </a:ext>
            </a:extLst>
          </p:cNvPr>
          <p:cNvSpPr>
            <a:spLocks noGrp="1"/>
          </p:cNvSpPr>
          <p:nvPr/>
        </p:nvSpPr>
        <p:spPr>
          <a:xfrm>
            <a:off x="8524875" y="4695825"/>
            <a:ext cx="23336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Eligible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54BE30-9118-4F33-8C13-E03F9A9EF65F}"/>
              </a:ext>
            </a:extLst>
          </p:cNvPr>
          <p:cNvSpPr>
            <a:spLocks noGrp="1"/>
          </p:cNvSpPr>
          <p:nvPr/>
        </p:nvSpPr>
        <p:spPr>
          <a:xfrm>
            <a:off x="7048500" y="5143500"/>
            <a:ext cx="14763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809" lnSpcReduction="20000"/>
          </a:bodyPr>
          <a:lstStyle/>
          <a:p>
            <a:pPr algn="l">
              <a:defRPr sz="2025" b="1">
                <a:solidFill>
                  <a:srgbClr val="1976A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976A3"/>
                </a:solidFill>
                <a:latin typeface="Bitstream Charter"/>
                <a:ea typeface="Bitstream Charter"/>
                <a:cs typeface="Bitstream Charter"/>
              </a:rPr>
              <a:t>24,177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401E1D-3A9C-4725-8DE1-3DD12D9D4FF5}"/>
              </a:ext>
            </a:extLst>
          </p:cNvPr>
          <p:cNvSpPr>
            <a:spLocks noGrp="1"/>
          </p:cNvSpPr>
          <p:nvPr/>
        </p:nvSpPr>
        <p:spPr>
          <a:xfrm>
            <a:off x="8524875" y="5105400"/>
            <a:ext cx="23336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92"/>
          </a:bodyPr>
          <a:lstStyle/>
          <a:p>
            <a:pPr algn="l"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Not eligible due to low battery range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392724-A72E-4499-BF5A-8CD5D80A331D}"/>
              </a:ext>
            </a:extLst>
          </p:cNvPr>
          <p:cNvSpPr>
            <a:spLocks noGrp="1"/>
          </p:cNvSpPr>
          <p:nvPr/>
        </p:nvSpPr>
        <p:spPr>
          <a:xfrm>
            <a:off x="11096625" y="64484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r">
              <a:defRPr sz="900" b="1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627D9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99EB930-BD23-2809-76DA-893CD6094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45" y="815607"/>
            <a:ext cx="11058930" cy="474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50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F7B226-A0EB-EEF1-1C4D-CDF3D4A132D3}"/>
              </a:ext>
            </a:extLst>
          </p:cNvPr>
          <p:cNvSpPr txBox="1"/>
          <p:nvPr/>
        </p:nvSpPr>
        <p:spPr>
          <a:xfrm>
            <a:off x="1066800" y="387369"/>
            <a:ext cx="609600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2550" b="1" dirty="0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Key Insights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883E39C-A76D-42F5-A1B7-42D554872B95}"/>
              </a:ext>
            </a:extLst>
          </p:cNvPr>
          <p:cNvSpPr>
            <a:spLocks noGrp="1"/>
          </p:cNvSpPr>
          <p:nvPr/>
        </p:nvSpPr>
        <p:spPr>
          <a:xfrm>
            <a:off x="100584" y="1106424"/>
            <a:ext cx="12091416" cy="4681728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 w="9525">
            <a:solidFill>
              <a:srgbClr val="D8E2EA"/>
            </a:solidFill>
          </a:ln>
        </p:spPr>
        <p:txBody>
          <a:bodyPr/>
          <a:lstStyle/>
          <a:p>
            <a:r>
              <a:rPr lang="en-US" dirty="0"/>
              <a:t>• Tesla has a very large presence in the dataset. </a:t>
            </a:r>
          </a:p>
          <a:p>
            <a:endParaRPr lang="en-US" dirty="0"/>
          </a:p>
          <a:p>
            <a:r>
              <a:rPr lang="en-US" dirty="0"/>
              <a:t>• The Model Y, Tesla alone represents approximately 22.2% of the entire dataset. The Model Y and Model 3 combined represent approximately 35.3%.</a:t>
            </a:r>
          </a:p>
          <a:p>
            <a:endParaRPr lang="en-US" dirty="0"/>
          </a:p>
          <a:p>
            <a:r>
              <a:rPr lang="en-US" dirty="0"/>
              <a:t>• BEV dominate the dataset, representing 80.65% of registrations, compared with 19.35% for PHEVs. </a:t>
            </a:r>
          </a:p>
          <a:p>
            <a:endParaRPr lang="en-US" dirty="0"/>
          </a:p>
          <a:p>
            <a:r>
              <a:rPr lang="en-US" dirty="0"/>
              <a:t>• The top manufacturers do not have the same EV mix. Tesla and Nissan are almost entirely represented by BEVs, while Chevrolet, Ford, and Kia have a more mixed BEV/PHEV presence. </a:t>
            </a:r>
          </a:p>
          <a:p>
            <a:endParaRPr lang="en-US" dirty="0"/>
          </a:p>
          <a:p>
            <a:r>
              <a:rPr lang="en-US" dirty="0"/>
              <a:t>• Nearly half of the EV records are associated with King County, showing a strong geographic concentration, the county accounted for 48.1 % of the entire dataset. </a:t>
            </a:r>
          </a:p>
          <a:p>
            <a:endParaRPr lang="en-US" dirty="0"/>
          </a:p>
          <a:p>
            <a:r>
              <a:rPr lang="en-US" dirty="0"/>
              <a:t>• The registered EV population is heavily represented by recent model years. Among the model years displayed, 2023 has the largest number of vehicles.</a:t>
            </a:r>
          </a:p>
        </p:txBody>
      </p:sp>
    </p:spTree>
    <p:extLst>
      <p:ext uri="{BB962C8B-B14F-4D97-AF65-F5344CB8AC3E}">
        <p14:creationId xmlns:p14="http://schemas.microsoft.com/office/powerpoint/2010/main" val="2125005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person with dark hair and earrings">
            <a:extLst>
              <a:ext uri="{FF2B5EF4-FFF2-40B4-BE49-F238E27FC236}">
                <a16:creationId xmlns:a16="http://schemas.microsoft.com/office/drawing/2014/main" id="{47701709-DF4C-CA31-393E-BE65378C70A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631686"/>
            <a:ext cx="12192000" cy="2883583"/>
          </a:xfr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30973D-D489-3D13-5B3C-B777B230A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685"/>
            <a:ext cx="12191999" cy="622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97640"/>
      </p:ext>
    </p:extLst>
  </p:cSld>
  <p:clrMapOvr>
    <a:masterClrMapping/>
  </p:clrMapOvr>
</p:sld>
</file>

<file path=ppt/theme/theme1.xml><?xml version="1.0" encoding="utf-8"?>
<a:theme xmlns:a="http://schemas.openxmlformats.org/drawingml/2006/main" name="Neutrals">
  <a:themeElements>
    <a:clrScheme name="Neutral Blue &amp; Gree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6E3DD"/>
      </a:accent1>
      <a:accent2>
        <a:srgbClr val="DCE4E7"/>
      </a:accent2>
      <a:accent3>
        <a:srgbClr val="F2F0ED"/>
      </a:accent3>
      <a:accent4>
        <a:srgbClr val="8C9178"/>
      </a:accent4>
      <a:accent5>
        <a:srgbClr val="919EAC"/>
      </a:accent5>
      <a:accent6>
        <a:srgbClr val="1D2144"/>
      </a:accent6>
      <a:hlink>
        <a:srgbClr val="2A4211"/>
      </a:hlink>
      <a:folHlink>
        <a:srgbClr val="663E17"/>
      </a:folHlink>
    </a:clrScheme>
    <a:fontScheme name="Custom 11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trals_Marketing Presentation_win32_EF_v6" id="{67DB2C2D-FCF8-40FC-96D1-B8ECBEC2131C}" vid="{B44846DD-0C03-4691-B9FA-7B87E0EBB9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71af3243-3dd4-4a8d-8c0d-dd76da1f02a5"/>
    <ds:schemaRef ds:uri="http://schemas.microsoft.com/sharepoint/v3"/>
    <ds:schemaRef ds:uri="http://purl.org/dc/terms/"/>
    <ds:schemaRef ds:uri="http://schemas.microsoft.com/office/2006/documentManagement/types"/>
    <ds:schemaRef ds:uri="230e9df3-be65-4c73-a93b-d1236ebd677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{5972E76C-92EF-4F37-AFBF-13F181351780}0743cd2c-45be-4ec9-be1d-752c74c944b1-TFffbca3bb-2f91-4c96-94aa-cfcf1da3bf44eb66806c_win32</Template>
  <TotalTime>288</TotalTime>
  <Words>745</Words>
  <Application>Microsoft Office PowerPoint</Application>
  <PresentationFormat>Widescreen</PresentationFormat>
  <Paragraphs>77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Bitstream Charter</vt:lpstr>
      <vt:lpstr>Felix Titling</vt:lpstr>
      <vt:lpstr>Goudy Old Style</vt:lpstr>
      <vt:lpstr>Segoe UI</vt:lpstr>
      <vt:lpstr>Neutrals</vt:lpstr>
      <vt:lpstr>Washington Electric Vehicle Population Analysis </vt:lpstr>
      <vt:lpstr>Executive summary What the current registration snapshot tells stakeholders 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INGDAWORK FEYISSA</dc:creator>
  <cp:lastModifiedBy>INGDAWORK FEYISSA</cp:lastModifiedBy>
  <cp:revision>1</cp:revision>
  <dcterms:created xsi:type="dcterms:W3CDTF">2026-09-28T22:40:56Z</dcterms:created>
  <dcterms:modified xsi:type="dcterms:W3CDTF">2026-09-29T03:29:32Z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